
<file path=[Content_Types].xml><?xml version="1.0" encoding="utf-8"?>
<Types xmlns="http://schemas.openxmlformats.org/package/2006/content-types">
  <Default Extension="fntdata" ContentType="application/x-fontdata"/>
  <Default Extension="jpg" ContentType="image/jpeg"/>
  <Default Extension="mp4" ContentType="video/mp4"/>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13"/>
  </p:notesMasterIdLst>
  <p:sldIdLst>
    <p:sldId id="256" r:id="rId2"/>
    <p:sldId id="257" r:id="rId3"/>
    <p:sldId id="258" r:id="rId4"/>
    <p:sldId id="260" r:id="rId5"/>
    <p:sldId id="261" r:id="rId6"/>
    <p:sldId id="269" r:id="rId7"/>
    <p:sldId id="270" r:id="rId8"/>
    <p:sldId id="271" r:id="rId9"/>
    <p:sldId id="272" r:id="rId10"/>
    <p:sldId id="264" r:id="rId11"/>
    <p:sldId id="267" r:id="rId12"/>
  </p:sldIdLst>
  <p:sldSz cx="12192000" cy="6858000"/>
  <p:notesSz cx="6858000" cy="9144000"/>
  <p:embeddedFontLst>
    <p:embeddedFont>
      <p:font typeface="Bebas Neue" panose="020B0606020202050201" pitchFamily="34" charset="0"/>
      <p:regular r:id="rId14"/>
    </p:embeddedFont>
    <p:embeddedFont>
      <p:font typeface="Calibri" panose="020F0502020204030204" pitchFamily="34" charset="0"/>
      <p:regular r:id="rId15"/>
      <p:bold r:id="rId16"/>
      <p:italic r:id="rId17"/>
      <p:boldItalic r:id="rId18"/>
    </p:embeddedFont>
    <p:embeddedFont>
      <p:font typeface="Century Gothic" panose="020B0502020202020204" pitchFamily="34" charset="0"/>
      <p:regular r:id="rId19"/>
      <p:bold r:id="rId20"/>
      <p:italic r:id="rId21"/>
      <p:boldItalic r:id="rId22"/>
    </p:embeddedFont>
    <p:embeddedFont>
      <p:font typeface="Lato Light" panose="020F0502020204030203"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goHGeHG2Jyy6+m8S9xN/L3C4py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4C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0791" autoAdjust="0"/>
  </p:normalViewPr>
  <p:slideViewPr>
    <p:cSldViewPr snapToGrid="0" snapToObjects="1">
      <p:cViewPr varScale="1">
        <p:scale>
          <a:sx n="103" d="100"/>
          <a:sy n="103" d="100"/>
        </p:scale>
        <p:origin x="8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7898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1889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78730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5922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2" name="Google Shape;32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9" name="Google Shape;39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5"/>
        <p:cNvGrpSpPr/>
        <p:nvPr/>
      </p:nvGrpSpPr>
      <p:grpSpPr>
        <a:xfrm>
          <a:off x="0" y="0"/>
          <a:ext cx="0" cy="0"/>
          <a:chOff x="0" y="0"/>
          <a:chExt cx="0" cy="0"/>
        </a:xfrm>
      </p:grpSpPr>
      <p:sp>
        <p:nvSpPr>
          <p:cNvPr id="16" name="Google Shape;1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de Título" type="title">
  <p:cSld name="TITLE">
    <p:spTree>
      <p:nvGrpSpPr>
        <p:cNvPr id="1" name="Shape 21"/>
        <p:cNvGrpSpPr/>
        <p:nvPr/>
      </p:nvGrpSpPr>
      <p:grpSpPr>
        <a:xfrm>
          <a:off x="0" y="0"/>
          <a:ext cx="0" cy="0"/>
          <a:chOff x="0" y="0"/>
          <a:chExt cx="0" cy="0"/>
        </a:xfrm>
      </p:grpSpPr>
      <p:sp>
        <p:nvSpPr>
          <p:cNvPr id="22" name="Google Shape;22;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2"/>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6.webp"/><Relationship Id="rId3" Type="http://schemas.openxmlformats.org/officeDocument/2006/relationships/image" Target="../media/image8.jpg"/><Relationship Id="rId7" Type="http://schemas.openxmlformats.org/officeDocument/2006/relationships/image" Target="../media/image11.png"/><Relationship Id="rId12" Type="http://schemas.openxmlformats.org/officeDocument/2006/relationships/image" Target="../media/image15.jpg"/><Relationship Id="rId17" Type="http://schemas.openxmlformats.org/officeDocument/2006/relationships/image" Target="../media/image20.jpg"/><Relationship Id="rId2" Type="http://schemas.openxmlformats.org/officeDocument/2006/relationships/notesSlide" Target="../notesSlides/notesSlide3.xml"/><Relationship Id="rId16" Type="http://schemas.openxmlformats.org/officeDocument/2006/relationships/image" Target="../media/image19.jp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4.jpg"/><Relationship Id="rId5" Type="http://schemas.openxmlformats.org/officeDocument/2006/relationships/image" Target="../media/image7.png"/><Relationship Id="rId15" Type="http://schemas.openxmlformats.org/officeDocument/2006/relationships/image" Target="../media/image18.jpg"/><Relationship Id="rId10" Type="http://schemas.openxmlformats.org/officeDocument/2006/relationships/image" Target="../media/image13.jpg"/><Relationship Id="rId4" Type="http://schemas.openxmlformats.org/officeDocument/2006/relationships/image" Target="../media/image9.jpg"/><Relationship Id="rId9" Type="http://schemas.openxmlformats.org/officeDocument/2006/relationships/slide" Target="slide11.xml"/><Relationship Id="rId14" Type="http://schemas.openxmlformats.org/officeDocument/2006/relationships/image" Target="../media/image17.jpg"/></Relationships>
</file>

<file path=ppt/slides/_rels/slide4.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12.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png"/><Relationship Id="rId10" Type="http://schemas.openxmlformats.org/officeDocument/2006/relationships/image" Target="../media/image22.svg"/><Relationship Id="rId4" Type="http://schemas.openxmlformats.org/officeDocument/2006/relationships/slide" Target="slide3.xml"/><Relationship Id="rId9"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6.webp"/><Relationship Id="rId3" Type="http://schemas.openxmlformats.org/officeDocument/2006/relationships/image" Target="../media/image24.jpg"/><Relationship Id="rId7" Type="http://schemas.openxmlformats.org/officeDocument/2006/relationships/image" Target="../media/image11.png"/><Relationship Id="rId12" Type="http://schemas.openxmlformats.org/officeDocument/2006/relationships/image" Target="../media/image15.jpg"/><Relationship Id="rId17" Type="http://schemas.openxmlformats.org/officeDocument/2006/relationships/image" Target="../media/image20.jpg"/><Relationship Id="rId2" Type="http://schemas.openxmlformats.org/officeDocument/2006/relationships/notesSlide" Target="../notesSlides/notesSlide7.xml"/><Relationship Id="rId16" Type="http://schemas.openxmlformats.org/officeDocument/2006/relationships/image" Target="../media/image19.jp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4.jpg"/><Relationship Id="rId5" Type="http://schemas.openxmlformats.org/officeDocument/2006/relationships/image" Target="../media/image7.png"/><Relationship Id="rId15" Type="http://schemas.openxmlformats.org/officeDocument/2006/relationships/image" Target="../media/image18.jpg"/><Relationship Id="rId10" Type="http://schemas.openxmlformats.org/officeDocument/2006/relationships/image" Target="../media/image13.jpg"/><Relationship Id="rId4" Type="http://schemas.openxmlformats.org/officeDocument/2006/relationships/image" Target="../media/image9.jpg"/><Relationship Id="rId9" Type="http://schemas.openxmlformats.org/officeDocument/2006/relationships/slide" Target="slide11.xml"/><Relationship Id="rId14" Type="http://schemas.openxmlformats.org/officeDocument/2006/relationships/image" Target="../media/image17.jpg"/></Relationships>
</file>

<file path=ppt/slides/_rels/slide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6.webp"/><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p:nvPr/>
        </p:nvSpPr>
        <p:spPr>
          <a:xfrm>
            <a:off x="13639800" y="971550"/>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89" name="Google Shape;89;p1" descr="Netflix-New-Logo-Animation-2019"/>
          <p:cNvPicPr preferRelativeResize="0"/>
          <p:nvPr/>
        </p:nvPicPr>
        <p:blipFill rotWithShape="1">
          <a:blip r:embed="rId5">
            <a:alphaModFix/>
          </a:blip>
          <a:srcRect/>
          <a:stretch/>
        </p:blipFill>
        <p:spPr>
          <a:xfrm>
            <a:off x="-1524" y="0"/>
            <a:ext cx="12192000" cy="6858000"/>
          </a:xfrm>
          <a:prstGeom prst="rect">
            <a:avLst/>
          </a:prstGeom>
          <a:noFill/>
          <a:ln>
            <a:noFill/>
          </a:ln>
        </p:spPr>
      </p:pic>
      <p:pic>
        <p:nvPicPr>
          <p:cNvPr id="2" name="Netflix New Logo Animation 2019" descr="Netflix New Logo Animation 2019">
            <a:hlinkClick r:id="" action="ppaction://media"/>
            <a:extLst>
              <a:ext uri="{FF2B5EF4-FFF2-40B4-BE49-F238E27FC236}">
                <a16:creationId xmlns:a16="http://schemas.microsoft.com/office/drawing/2014/main" id="{700F3DE8-B2F9-034C-9AD4-05D6731E92A3}"/>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1113" y="3175"/>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4041"/>
                                        <p:tgtEl>
                                          <p:spTgt spid="89"/>
                                        </p:tgtEl>
                                      </p:cBhvr>
                                    </p:animEffect>
                                  </p:childTnLst>
                                </p:cTn>
                              </p:par>
                            </p:childTnLst>
                          </p:cTn>
                        </p:par>
                        <p:par>
                          <p:cTn id="8" fill="hold">
                            <p:stCondLst>
                              <p:cond delay="4041"/>
                            </p:stCondLst>
                            <p:childTnLst>
                              <p:par>
                                <p:cTn id="9" presetID="1" presetClass="mediacall" presetSubtype="0" fill="hold" nodeType="afterEffect">
                                  <p:stCondLst>
                                    <p:cond delay="0"/>
                                  </p:stCondLst>
                                  <p:childTnLst>
                                    <p:cmd type="call" cmd="playFrom(0.0)">
                                      <p:cBhvr>
                                        <p:cTn id="10" dur="401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showWhenStopped="0">
                <p:cTn id="11" fill="hold" display="0">
                  <p:stCondLst>
                    <p:cond delay="indefinite"/>
                  </p:stCondLst>
                </p:cTn>
                <p:tgtEl>
                  <p:spTgt spid="2"/>
                </p:tgtEl>
              </p:cMediaNode>
            </p:video>
            <p:seq concurrent="1" nextAc="seek">
              <p:cTn id="12" restart="whenNotActive" fill="hold" evtFilter="cancelBubble" nodeType="interactiveSeq">
                <p:stCondLst>
                  <p:cond evt="onClick" delay="0">
                    <p:tgtEl>
                      <p:spTgt spid="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595959"/>
        </a:solidFill>
        <a:effectLst/>
      </p:bgPr>
    </p:bg>
    <p:spTree>
      <p:nvGrpSpPr>
        <p:cNvPr id="1" name="Shape 93"/>
        <p:cNvGrpSpPr/>
        <p:nvPr/>
      </p:nvGrpSpPr>
      <p:grpSpPr>
        <a:xfrm>
          <a:off x="0" y="0"/>
          <a:ext cx="0" cy="0"/>
          <a:chOff x="0" y="0"/>
          <a:chExt cx="0" cy="0"/>
        </a:xfrm>
      </p:grpSpPr>
      <p:pic>
        <p:nvPicPr>
          <p:cNvPr id="7" name="Imagem 6">
            <a:extLst>
              <a:ext uri="{FF2B5EF4-FFF2-40B4-BE49-F238E27FC236}">
                <a16:creationId xmlns:a16="http://schemas.microsoft.com/office/drawing/2014/main" id="{CF88D286-D16E-0E1C-DDDF-4B1D51FD4238}"/>
              </a:ext>
            </a:extLst>
          </p:cNvPr>
          <p:cNvPicPr>
            <a:picLocks noChangeAspect="1"/>
          </p:cNvPicPr>
          <p:nvPr/>
        </p:nvPicPr>
        <p:blipFill>
          <a:blip r:embed="rId3"/>
          <a:stretch>
            <a:fillRect/>
          </a:stretch>
        </p:blipFill>
        <p:spPr>
          <a:xfrm>
            <a:off x="0" y="0"/>
            <a:ext cx="12192000" cy="6858000"/>
          </a:xfrm>
          <a:prstGeom prst="rect">
            <a:avLst/>
          </a:prstGeom>
        </p:spPr>
      </p:pic>
      <p:sp>
        <p:nvSpPr>
          <p:cNvPr id="94" name="Google Shape;94;p2"/>
          <p:cNvSpPr txBox="1"/>
          <p:nvPr/>
        </p:nvSpPr>
        <p:spPr>
          <a:xfrm>
            <a:off x="3476597" y="516262"/>
            <a:ext cx="5238803"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4400">
                <a:solidFill>
                  <a:schemeClr val="lt1"/>
                </a:solidFill>
                <a:latin typeface="Bebas Neue"/>
                <a:ea typeface="Bebas Neue"/>
                <a:cs typeface="Bebas Neue"/>
                <a:sym typeface="Bebas Neue"/>
              </a:rPr>
              <a:t>QUEM ESTÁ ASSISTINDO ?</a:t>
            </a:r>
            <a:endParaRPr/>
          </a:p>
        </p:txBody>
      </p:sp>
      <p:pic>
        <p:nvPicPr>
          <p:cNvPr id="95" name="Google Shape;95;p2" descr="Luz do sol&#10;&#10;Descrição gerada automaticamente com confiança baixa"/>
          <p:cNvPicPr preferRelativeResize="0"/>
          <p:nvPr/>
        </p:nvPicPr>
        <p:blipFill rotWithShape="1">
          <a:blip r:embed="rId4">
            <a:alphaModFix/>
          </a:blip>
          <a:srcRect/>
          <a:stretch/>
        </p:blipFill>
        <p:spPr>
          <a:xfrm>
            <a:off x="2345393" y="2139538"/>
            <a:ext cx="1803400" cy="1778000"/>
          </a:xfrm>
          <a:prstGeom prst="roundRect">
            <a:avLst>
              <a:gd name="adj" fmla="val 16667"/>
            </a:avLst>
          </a:prstGeom>
          <a:noFill/>
          <a:ln>
            <a:noFill/>
          </a:ln>
          <a:effectLst>
            <a:outerShdw blurRad="76200" dist="38100" dir="7800000" algn="tl" rotWithShape="0">
              <a:srgbClr val="000000">
                <a:alpha val="40000"/>
              </a:srgbClr>
            </a:outerShdw>
          </a:effectLst>
        </p:spPr>
      </p:pic>
      <p:pic>
        <p:nvPicPr>
          <p:cNvPr id="98" name="Google Shape;98;p2" descr="Ícone&#10;&#10;Descrição gerada automaticamente"/>
          <p:cNvPicPr preferRelativeResize="0"/>
          <p:nvPr/>
        </p:nvPicPr>
        <p:blipFill rotWithShape="1">
          <a:blip r:embed="rId5">
            <a:alphaModFix/>
          </a:blip>
          <a:srcRect/>
          <a:stretch/>
        </p:blipFill>
        <p:spPr>
          <a:xfrm>
            <a:off x="5050637" y="2076138"/>
            <a:ext cx="1778100" cy="1841400"/>
          </a:xfrm>
          <a:prstGeom prst="roundRect">
            <a:avLst>
              <a:gd name="adj" fmla="val 16667"/>
            </a:avLst>
          </a:prstGeom>
          <a:noFill/>
          <a:ln>
            <a:noFill/>
          </a:ln>
          <a:effectLst>
            <a:outerShdw blurRad="76200" dist="38100" dir="7800000" algn="tl" rotWithShape="0">
              <a:srgbClr val="000000">
                <a:alpha val="40000"/>
              </a:srgbClr>
            </a:outerShdw>
          </a:effectLst>
        </p:spPr>
      </p:pic>
      <p:pic>
        <p:nvPicPr>
          <p:cNvPr id="99" name="Google Shape;99;p2" descr="Tela de computador com fundo azul&#10;&#10;Descrição gerada automaticamente com confiança média"/>
          <p:cNvPicPr preferRelativeResize="0"/>
          <p:nvPr/>
        </p:nvPicPr>
        <p:blipFill rotWithShape="1">
          <a:blip r:embed="rId6">
            <a:alphaModFix/>
          </a:blip>
          <a:srcRect/>
          <a:stretch/>
        </p:blipFill>
        <p:spPr>
          <a:xfrm>
            <a:off x="7730581" y="2095038"/>
            <a:ext cx="1790899" cy="1803600"/>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00" name="Google Shape;100;p2"/>
          <p:cNvSpPr txBox="1"/>
          <p:nvPr/>
        </p:nvSpPr>
        <p:spPr>
          <a:xfrm>
            <a:off x="2405344" y="4068658"/>
            <a:ext cx="1671000" cy="3693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BR" sz="1800" dirty="0">
                <a:solidFill>
                  <a:schemeClr val="lt1"/>
                </a:solidFill>
                <a:latin typeface="Lato Light"/>
                <a:ea typeface="Lato Light"/>
                <a:cs typeface="Lato Light"/>
                <a:sym typeface="Lato Light"/>
              </a:rPr>
              <a:t>JOÃO PAULO</a:t>
            </a:r>
            <a:endParaRPr dirty="0"/>
          </a:p>
        </p:txBody>
      </p:sp>
      <p:pic>
        <p:nvPicPr>
          <p:cNvPr id="103" name="Google Shape;103;p2" descr="Uma imagem contendo objeto, relógio, laranja, trem&#10;&#10;Descrição gerada automaticamente"/>
          <p:cNvPicPr preferRelativeResize="0"/>
          <p:nvPr/>
        </p:nvPicPr>
        <p:blipFill rotWithShape="1">
          <a:blip r:embed="rId7">
            <a:alphaModFix/>
          </a:blip>
          <a:srcRect/>
          <a:stretch/>
        </p:blipFill>
        <p:spPr>
          <a:xfrm>
            <a:off x="394193" y="204720"/>
            <a:ext cx="1864519" cy="633110"/>
          </a:xfrm>
          <a:prstGeom prst="rect">
            <a:avLst/>
          </a:prstGeom>
          <a:noFill/>
          <a:ln>
            <a:noFill/>
          </a:ln>
        </p:spPr>
      </p:pic>
      <p:sp>
        <p:nvSpPr>
          <p:cNvPr id="104" name="Google Shape;104;p2"/>
          <p:cNvSpPr txBox="1"/>
          <p:nvPr/>
        </p:nvSpPr>
        <p:spPr>
          <a:xfrm>
            <a:off x="5104187" y="4068667"/>
            <a:ext cx="1671000"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BR" sz="1800" dirty="0">
                <a:solidFill>
                  <a:schemeClr val="lt1"/>
                </a:solidFill>
                <a:latin typeface="Lato Light"/>
                <a:ea typeface="Lato Light"/>
                <a:cs typeface="Lato Light"/>
                <a:sym typeface="Lato Light"/>
              </a:rPr>
              <a:t>LAIZA JOANA</a:t>
            </a:r>
            <a:endParaRPr dirty="0"/>
          </a:p>
        </p:txBody>
      </p:sp>
      <p:sp>
        <p:nvSpPr>
          <p:cNvPr id="105" name="Google Shape;105;p2"/>
          <p:cNvSpPr txBox="1"/>
          <p:nvPr/>
        </p:nvSpPr>
        <p:spPr>
          <a:xfrm>
            <a:off x="7850480" y="4061683"/>
            <a:ext cx="1671000"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BR" sz="1800" dirty="0">
                <a:solidFill>
                  <a:schemeClr val="lt1"/>
                </a:solidFill>
                <a:latin typeface="Lato Light"/>
                <a:ea typeface="Lato Light"/>
                <a:cs typeface="Lato Light"/>
                <a:sym typeface="Lato Light"/>
              </a:rPr>
              <a:t>ROBERTA GALVÃO</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additive="base">
                                        <p:cTn id="7" dur="500"/>
                                        <p:tgtEl>
                                          <p:spTgt spid="94"/>
                                        </p:tgtEl>
                                        <p:attrNameLst>
                                          <p:attrName>ppt_w</p:attrName>
                                        </p:attrNameLst>
                                      </p:cBhvr>
                                      <p:tavLst>
                                        <p:tav tm="0">
                                          <p:val>
                                            <p:strVal val="0"/>
                                          </p:val>
                                        </p:tav>
                                        <p:tav tm="100000">
                                          <p:val>
                                            <p:strVal val="#ppt_w"/>
                                          </p:val>
                                        </p:tav>
                                      </p:tavLst>
                                    </p:anim>
                                    <p:anim calcmode="lin" valueType="num">
                                      <p:cBhvr additive="base">
                                        <p:cTn id="8" dur="500"/>
                                        <p:tgtEl>
                                          <p:spTgt spid="94"/>
                                        </p:tgtEl>
                                        <p:attrNameLst>
                                          <p:attrName>ppt_h</p:attrName>
                                        </p:attrNameLst>
                                      </p:cBhvr>
                                      <p:tavLst>
                                        <p:tav tm="0">
                                          <p:val>
                                            <p:strVal val="0"/>
                                          </p:val>
                                        </p:tav>
                                        <p:tav tm="100000">
                                          <p:val>
                                            <p:strVal val="#ppt_h"/>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95"/>
                                        </p:tgtEl>
                                        <p:attrNameLst>
                                          <p:attrName>style.visibility</p:attrName>
                                        </p:attrNameLst>
                                      </p:cBhvr>
                                      <p:to>
                                        <p:strVal val="visible"/>
                                      </p:to>
                                    </p:set>
                                    <p:anim calcmode="lin" valueType="num">
                                      <p:cBhvr additive="base">
                                        <p:cTn id="12" dur="500"/>
                                        <p:tgtEl>
                                          <p:spTgt spid="95"/>
                                        </p:tgtEl>
                                        <p:attrNameLst>
                                          <p:attrName>ppt_x</p:attrName>
                                        </p:attrNameLst>
                                      </p:cBhvr>
                                      <p:tavLst>
                                        <p:tav tm="0">
                                          <p:val>
                                            <p:strVal val="#ppt_x+1"/>
                                          </p:val>
                                        </p:tav>
                                        <p:tav tm="100000">
                                          <p:val>
                                            <p:strVal val="#ppt_x"/>
                                          </p:val>
                                        </p:tav>
                                      </p:tavLst>
                                    </p:anim>
                                  </p:childTnLst>
                                </p:cTn>
                              </p:par>
                              <p:par>
                                <p:cTn id="13" presetID="2" presetClass="entr" presetSubtype="4" fill="hold" nodeType="withEffect">
                                  <p:stCondLst>
                                    <p:cond delay="0"/>
                                  </p:stCondLst>
                                  <p:childTnLst>
                                    <p:set>
                                      <p:cBhvr>
                                        <p:cTn id="14" dur="1" fill="hold">
                                          <p:stCondLst>
                                            <p:cond delay="0"/>
                                          </p:stCondLst>
                                        </p:cTn>
                                        <p:tgtEl>
                                          <p:spTgt spid="100"/>
                                        </p:tgtEl>
                                        <p:attrNameLst>
                                          <p:attrName>style.visibility</p:attrName>
                                        </p:attrNameLst>
                                      </p:cBhvr>
                                      <p:to>
                                        <p:strVal val="visible"/>
                                      </p:to>
                                    </p:set>
                                    <p:anim calcmode="lin" valueType="num">
                                      <p:cBhvr additive="base">
                                        <p:cTn id="15" dur="500"/>
                                        <p:tgtEl>
                                          <p:spTgt spid="100"/>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 presetClass="entr" presetSubtype="2" fill="hold" nodeType="afterEffect">
                                  <p:stCondLst>
                                    <p:cond delay="0"/>
                                  </p:stCondLst>
                                  <p:childTnLst>
                                    <p:set>
                                      <p:cBhvr>
                                        <p:cTn id="18" dur="1" fill="hold">
                                          <p:stCondLst>
                                            <p:cond delay="0"/>
                                          </p:stCondLst>
                                        </p:cTn>
                                        <p:tgtEl>
                                          <p:spTgt spid="98"/>
                                        </p:tgtEl>
                                        <p:attrNameLst>
                                          <p:attrName>style.visibility</p:attrName>
                                        </p:attrNameLst>
                                      </p:cBhvr>
                                      <p:to>
                                        <p:strVal val="visible"/>
                                      </p:to>
                                    </p:set>
                                    <p:anim calcmode="lin" valueType="num">
                                      <p:cBhvr additive="base">
                                        <p:cTn id="19" dur="500"/>
                                        <p:tgtEl>
                                          <p:spTgt spid="98"/>
                                        </p:tgtEl>
                                        <p:attrNameLst>
                                          <p:attrName>ppt_x</p:attrName>
                                        </p:attrNameLst>
                                      </p:cBhvr>
                                      <p:tavLst>
                                        <p:tav tm="0">
                                          <p:val>
                                            <p:strVal val="#ppt_x+1"/>
                                          </p:val>
                                        </p:tav>
                                        <p:tav tm="100000">
                                          <p:val>
                                            <p:strVal val="#ppt_x"/>
                                          </p:val>
                                        </p:tav>
                                      </p:tavLst>
                                    </p:anim>
                                  </p:childTnLst>
                                </p:cTn>
                              </p:par>
                            </p:childTnLst>
                          </p:cTn>
                        </p:par>
                        <p:par>
                          <p:cTn id="20" fill="hold">
                            <p:stCondLst>
                              <p:cond delay="1500"/>
                            </p:stCondLst>
                            <p:childTnLst>
                              <p:par>
                                <p:cTn id="21" presetID="2" presetClass="entr" presetSubtype="2" fill="hold" nodeType="afterEffect">
                                  <p:stCondLst>
                                    <p:cond delay="0"/>
                                  </p:stCondLst>
                                  <p:childTnLst>
                                    <p:set>
                                      <p:cBhvr>
                                        <p:cTn id="22" dur="1" fill="hold">
                                          <p:stCondLst>
                                            <p:cond delay="0"/>
                                          </p:stCondLst>
                                        </p:cTn>
                                        <p:tgtEl>
                                          <p:spTgt spid="99"/>
                                        </p:tgtEl>
                                        <p:attrNameLst>
                                          <p:attrName>style.visibility</p:attrName>
                                        </p:attrNameLst>
                                      </p:cBhvr>
                                      <p:to>
                                        <p:strVal val="visible"/>
                                      </p:to>
                                    </p:set>
                                    <p:anim calcmode="lin" valueType="num">
                                      <p:cBhvr additive="base">
                                        <p:cTn id="23" dur="500"/>
                                        <p:tgtEl>
                                          <p:spTgt spid="9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32" name="Imagem 31">
            <a:extLst>
              <a:ext uri="{FF2B5EF4-FFF2-40B4-BE49-F238E27FC236}">
                <a16:creationId xmlns:a16="http://schemas.microsoft.com/office/drawing/2014/main" id="{4F16B4ED-0E19-D8D1-2B1C-90983B5DD7E5}"/>
              </a:ext>
            </a:extLst>
          </p:cNvPr>
          <p:cNvPicPr>
            <a:picLocks noChangeAspect="1"/>
          </p:cNvPicPr>
          <p:nvPr/>
        </p:nvPicPr>
        <p:blipFill>
          <a:blip r:embed="rId3"/>
          <a:stretch>
            <a:fillRect/>
          </a:stretch>
        </p:blipFill>
        <p:spPr>
          <a:xfrm>
            <a:off x="-14894" y="15619"/>
            <a:ext cx="12206893" cy="4855198"/>
          </a:xfrm>
          <a:prstGeom prst="rect">
            <a:avLst/>
          </a:prstGeom>
        </p:spPr>
      </p:pic>
      <p:pic>
        <p:nvPicPr>
          <p:cNvPr id="22" name="Imagem 21">
            <a:extLst>
              <a:ext uri="{FF2B5EF4-FFF2-40B4-BE49-F238E27FC236}">
                <a16:creationId xmlns:a16="http://schemas.microsoft.com/office/drawing/2014/main" id="{29E39E45-4484-0089-8BDC-E4B47BF2E731}"/>
              </a:ext>
            </a:extLst>
          </p:cNvPr>
          <p:cNvPicPr>
            <a:picLocks noChangeAspect="1"/>
          </p:cNvPicPr>
          <p:nvPr/>
        </p:nvPicPr>
        <p:blipFill rotWithShape="1">
          <a:blip r:embed="rId4"/>
          <a:srcRect r="32902"/>
          <a:stretch/>
        </p:blipFill>
        <p:spPr>
          <a:xfrm>
            <a:off x="11259885" y="4943992"/>
            <a:ext cx="911475" cy="18983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1" name="Google Shape;111;p3"/>
          <p:cNvSpPr txBox="1"/>
          <p:nvPr/>
        </p:nvSpPr>
        <p:spPr>
          <a:xfrm>
            <a:off x="689668" y="1519696"/>
            <a:ext cx="6272493" cy="219286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3600" dirty="0">
                <a:solidFill>
                  <a:schemeClr val="lt1"/>
                </a:solidFill>
                <a:latin typeface="Century Gothic"/>
                <a:sym typeface="Century Gothic"/>
              </a:rPr>
              <a:t>NETFLIX ORIGINAL &amp; IMDB SCORES</a:t>
            </a:r>
          </a:p>
          <a:p>
            <a:pPr marL="0" marR="0" lvl="0" indent="0" algn="just" rtl="0">
              <a:spcBef>
                <a:spcPts val="0"/>
              </a:spcBef>
              <a:spcAft>
                <a:spcPts val="0"/>
              </a:spcAft>
              <a:buNone/>
            </a:pPr>
            <a:endParaRPr lang="pt-BR" sz="1050" dirty="0">
              <a:solidFill>
                <a:schemeClr val="bg1"/>
              </a:solidFill>
              <a:latin typeface="Century Gothic" panose="020B0502020202020204" pitchFamily="34" charset="0"/>
            </a:endParaRPr>
          </a:p>
          <a:p>
            <a:pPr marL="0" marR="0" lvl="0" indent="0" algn="just" rtl="0">
              <a:spcBef>
                <a:spcPts val="0"/>
              </a:spcBef>
              <a:spcAft>
                <a:spcPts val="0"/>
              </a:spcAft>
              <a:buNone/>
            </a:pPr>
            <a:endParaRPr lang="pt-BR" sz="1050" dirty="0">
              <a:solidFill>
                <a:schemeClr val="bg1"/>
              </a:solidFill>
              <a:latin typeface="Century Gothic" panose="020B0502020202020204" pitchFamily="34" charset="0"/>
            </a:endParaRPr>
          </a:p>
          <a:p>
            <a:pPr marL="0" marR="0" lvl="0" indent="0" algn="just" rtl="0">
              <a:spcBef>
                <a:spcPts val="0"/>
              </a:spcBef>
              <a:spcAft>
                <a:spcPts val="0"/>
              </a:spcAft>
              <a:buNone/>
            </a:pPr>
            <a:endParaRPr lang="pt-BR" sz="1050" dirty="0">
              <a:solidFill>
                <a:schemeClr val="bg1"/>
              </a:solidFill>
              <a:latin typeface="Century Gothic" panose="020B0502020202020204" pitchFamily="34" charset="0"/>
            </a:endParaRPr>
          </a:p>
          <a:p>
            <a:pPr marL="0" marR="0" lvl="0" indent="0" algn="just" rtl="0">
              <a:spcBef>
                <a:spcPts val="0"/>
              </a:spcBef>
              <a:spcAft>
                <a:spcPts val="0"/>
              </a:spcAft>
              <a:buNone/>
            </a:pPr>
            <a:r>
              <a:rPr lang="pt-BR" sz="1100" b="0" i="0" dirty="0">
                <a:solidFill>
                  <a:schemeClr val="bg1"/>
                </a:solidFill>
                <a:effectLst/>
                <a:latin typeface="Century Gothic" panose="020B0502020202020204" pitchFamily="34" charset="0"/>
              </a:rPr>
              <a:t>Nosso projeto consiste no conjunto de todos os filmes originais, documentários e especiais da Netflix lançados em junho de 2021 integrados a um conjunto de dados </a:t>
            </a:r>
            <a:r>
              <a:rPr lang="pt-BR" sz="1100" dirty="0">
                <a:solidFill>
                  <a:schemeClr val="bg1"/>
                </a:solidFill>
                <a:latin typeface="Century Gothic" panose="020B0502020202020204" pitchFamily="34" charset="0"/>
              </a:rPr>
              <a:t>com </a:t>
            </a:r>
            <a:r>
              <a:rPr lang="pt-BR" sz="1100" b="0" i="0" dirty="0">
                <a:solidFill>
                  <a:schemeClr val="bg1"/>
                </a:solidFill>
                <a:effectLst/>
                <a:latin typeface="Century Gothic" panose="020B0502020202020204" pitchFamily="34" charset="0"/>
              </a:rPr>
              <a:t>todas as pontuações correspondentes do IMDB.</a:t>
            </a:r>
            <a:endParaRPr sz="1000" dirty="0">
              <a:solidFill>
                <a:schemeClr val="bg1"/>
              </a:solidFill>
              <a:latin typeface="Century Gothic" panose="020B0502020202020204" pitchFamily="34" charset="0"/>
            </a:endParaRPr>
          </a:p>
        </p:txBody>
      </p:sp>
      <p:pic>
        <p:nvPicPr>
          <p:cNvPr id="112" name="Google Shape;112;p3" descr="Uma imagem contendo objeto, relógio, laranja, trem&#10;&#10;Descrição gerada automaticamente"/>
          <p:cNvPicPr preferRelativeResize="0"/>
          <p:nvPr/>
        </p:nvPicPr>
        <p:blipFill rotWithShape="1">
          <a:blip r:embed="rId5">
            <a:alphaModFix/>
          </a:blip>
          <a:srcRect/>
          <a:stretch/>
        </p:blipFill>
        <p:spPr>
          <a:xfrm>
            <a:off x="394193" y="204720"/>
            <a:ext cx="1864519" cy="633110"/>
          </a:xfrm>
          <a:prstGeom prst="rect">
            <a:avLst/>
          </a:prstGeom>
          <a:noFill/>
          <a:ln>
            <a:noFill/>
          </a:ln>
        </p:spPr>
      </p:pic>
      <p:sp>
        <p:nvSpPr>
          <p:cNvPr id="113" name="Google Shape;113;p3"/>
          <p:cNvSpPr txBox="1"/>
          <p:nvPr/>
        </p:nvSpPr>
        <p:spPr>
          <a:xfrm>
            <a:off x="2487371" y="301443"/>
            <a:ext cx="6986588"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dirty="0">
                <a:solidFill>
                  <a:schemeClr val="lt1"/>
                </a:solidFill>
                <a:latin typeface="Century Gothic"/>
                <a:ea typeface="Century Gothic"/>
                <a:cs typeface="Century Gothic"/>
                <a:sym typeface="Century Gothic"/>
              </a:rPr>
              <a:t>Início     Filmes     Séries     Minha Lista </a:t>
            </a:r>
            <a:endParaRPr dirty="0"/>
          </a:p>
        </p:txBody>
      </p:sp>
      <p:pic>
        <p:nvPicPr>
          <p:cNvPr id="114" name="Google Shape;114;p3" descr="Ícone&#10;&#10;Descrição gerada automaticamente"/>
          <p:cNvPicPr preferRelativeResize="0"/>
          <p:nvPr/>
        </p:nvPicPr>
        <p:blipFill rotWithShape="1">
          <a:blip r:embed="rId6">
            <a:alphaModFix/>
          </a:blip>
          <a:srcRect/>
          <a:stretch/>
        </p:blipFill>
        <p:spPr>
          <a:xfrm>
            <a:off x="9880255" y="331280"/>
            <a:ext cx="459581" cy="459581"/>
          </a:xfrm>
          <a:prstGeom prst="rect">
            <a:avLst/>
          </a:prstGeom>
          <a:noFill/>
          <a:ln>
            <a:noFill/>
          </a:ln>
        </p:spPr>
      </p:pic>
      <p:sp>
        <p:nvSpPr>
          <p:cNvPr id="115" name="Google Shape;115;p3"/>
          <p:cNvSpPr txBox="1"/>
          <p:nvPr/>
        </p:nvSpPr>
        <p:spPr>
          <a:xfrm>
            <a:off x="8791566" y="331280"/>
            <a:ext cx="128592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Pesquisar </a:t>
            </a:r>
            <a:endParaRPr/>
          </a:p>
        </p:txBody>
      </p:sp>
      <p:sp>
        <p:nvSpPr>
          <p:cNvPr id="116" name="Google Shape;116;p3"/>
          <p:cNvSpPr txBox="1"/>
          <p:nvPr/>
        </p:nvSpPr>
        <p:spPr>
          <a:xfrm>
            <a:off x="689837" y="1247439"/>
            <a:ext cx="237095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dirty="0">
                <a:solidFill>
                  <a:schemeClr val="lt1"/>
                </a:solidFill>
                <a:latin typeface="Century Gothic"/>
                <a:ea typeface="Century Gothic"/>
                <a:cs typeface="Century Gothic"/>
                <a:sym typeface="Century Gothic"/>
              </a:rPr>
              <a:t>ORIGINAL </a:t>
            </a:r>
            <a:r>
              <a:rPr lang="pt-BR" sz="2000" b="1" dirty="0">
                <a:solidFill>
                  <a:schemeClr val="lt1"/>
                </a:solidFill>
                <a:latin typeface="Century Gothic"/>
                <a:ea typeface="Century Gothic"/>
                <a:cs typeface="Century Gothic"/>
                <a:sym typeface="Century Gothic"/>
              </a:rPr>
              <a:t>NETFLIX</a:t>
            </a:r>
            <a:r>
              <a:rPr lang="pt-BR" sz="2000" dirty="0">
                <a:solidFill>
                  <a:schemeClr val="lt1"/>
                </a:solidFill>
                <a:latin typeface="Century Gothic"/>
                <a:ea typeface="Century Gothic"/>
                <a:cs typeface="Century Gothic"/>
                <a:sym typeface="Century Gothic"/>
              </a:rPr>
              <a:t> </a:t>
            </a:r>
            <a:endParaRPr dirty="0"/>
          </a:p>
        </p:txBody>
      </p:sp>
      <p:grpSp>
        <p:nvGrpSpPr>
          <p:cNvPr id="117" name="Google Shape;117;p3"/>
          <p:cNvGrpSpPr/>
          <p:nvPr/>
        </p:nvGrpSpPr>
        <p:grpSpPr>
          <a:xfrm>
            <a:off x="10339836" y="273308"/>
            <a:ext cx="1457972" cy="369332"/>
            <a:chOff x="9828445" y="385086"/>
            <a:chExt cx="1693635" cy="369332"/>
          </a:xfrm>
        </p:grpSpPr>
        <p:sp>
          <p:nvSpPr>
            <p:cNvPr id="118" name="Google Shape;118;p3"/>
            <p:cNvSpPr txBox="1"/>
            <p:nvPr/>
          </p:nvSpPr>
          <p:spPr>
            <a:xfrm>
              <a:off x="9828445" y="385086"/>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3"/>
            <p:cNvSpPr/>
            <p:nvPr/>
          </p:nvSpPr>
          <p:spPr>
            <a:xfrm rot="10800000" flipH="1">
              <a:off x="11351815" y="535451"/>
              <a:ext cx="170265" cy="14677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20" name="Google Shape;120;p3"/>
          <p:cNvGrpSpPr/>
          <p:nvPr/>
        </p:nvGrpSpPr>
        <p:grpSpPr>
          <a:xfrm>
            <a:off x="673726" y="3731670"/>
            <a:ext cx="1441445" cy="406169"/>
            <a:chOff x="6416299" y="1532825"/>
            <a:chExt cx="1935237" cy="605941"/>
          </a:xfrm>
        </p:grpSpPr>
        <p:sp>
          <p:nvSpPr>
            <p:cNvPr id="121" name="Google Shape;121;p3"/>
            <p:cNvSpPr/>
            <p:nvPr/>
          </p:nvSpPr>
          <p:spPr>
            <a:xfrm>
              <a:off x="6416299" y="1532825"/>
              <a:ext cx="1935237" cy="605941"/>
            </a:xfrm>
            <a:prstGeom prst="roundRect">
              <a:avLst>
                <a:gd name="adj" fmla="val 41046"/>
              </a:avLst>
            </a:prstGeom>
            <a:solidFill>
              <a:srgbClr val="C00000"/>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endParaRPr sz="1800" b="1">
                <a:solidFill>
                  <a:schemeClr val="lt1"/>
                </a:solidFill>
                <a:latin typeface="Calibri"/>
                <a:ea typeface="Calibri"/>
                <a:cs typeface="Calibri"/>
                <a:sym typeface="Calibri"/>
              </a:endParaRPr>
            </a:p>
          </p:txBody>
        </p:sp>
        <p:sp>
          <p:nvSpPr>
            <p:cNvPr id="122" name="Google Shape;122;p3"/>
            <p:cNvSpPr/>
            <p:nvPr/>
          </p:nvSpPr>
          <p:spPr>
            <a:xfrm>
              <a:off x="7017319" y="1582283"/>
              <a:ext cx="722861" cy="5050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pt-BR" sz="1600" b="1">
                  <a:solidFill>
                    <a:schemeClr val="lt1"/>
                  </a:solidFill>
                  <a:latin typeface="Calibri"/>
                  <a:ea typeface="Calibri"/>
                  <a:cs typeface="Calibri"/>
                  <a:sym typeface="Calibri"/>
                </a:rPr>
                <a:t>Play</a:t>
              </a:r>
              <a:endParaRPr sz="1600" b="1">
                <a:solidFill>
                  <a:schemeClr val="lt1"/>
                </a:solidFill>
                <a:latin typeface="Calibri"/>
                <a:ea typeface="Calibri"/>
                <a:cs typeface="Calibri"/>
                <a:sym typeface="Calibri"/>
              </a:endParaRPr>
            </a:p>
          </p:txBody>
        </p:sp>
        <p:sp>
          <p:nvSpPr>
            <p:cNvPr id="123" name="Google Shape;123;p3"/>
            <p:cNvSpPr/>
            <p:nvPr/>
          </p:nvSpPr>
          <p:spPr>
            <a:xfrm rot="5400000">
              <a:off x="6761353" y="1743893"/>
              <a:ext cx="222521" cy="19182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24" name="Google Shape;124;p3"/>
          <p:cNvGrpSpPr/>
          <p:nvPr/>
        </p:nvGrpSpPr>
        <p:grpSpPr>
          <a:xfrm>
            <a:off x="2562836" y="3731671"/>
            <a:ext cx="1441445" cy="406169"/>
            <a:chOff x="6416299" y="1578916"/>
            <a:chExt cx="1935237" cy="605941"/>
          </a:xfrm>
        </p:grpSpPr>
        <p:sp>
          <p:nvSpPr>
            <p:cNvPr id="125" name="Google Shape;125;p3"/>
            <p:cNvSpPr/>
            <p:nvPr/>
          </p:nvSpPr>
          <p:spPr>
            <a:xfrm>
              <a:off x="6416299" y="1578916"/>
              <a:ext cx="1935237" cy="605941"/>
            </a:xfrm>
            <a:prstGeom prst="roundRect">
              <a:avLst>
                <a:gd name="adj" fmla="val 41046"/>
              </a:avLst>
            </a:prstGeom>
            <a:solidFill>
              <a:schemeClr val="lt1">
                <a:alpha val="29803"/>
              </a:schemeClr>
            </a:solidFill>
            <a:ln w="158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b="1">
                <a:solidFill>
                  <a:schemeClr val="lt1"/>
                </a:solidFill>
                <a:latin typeface="Calibri"/>
                <a:ea typeface="Calibri"/>
                <a:cs typeface="Calibri"/>
                <a:sym typeface="Calibri"/>
              </a:endParaRPr>
            </a:p>
          </p:txBody>
        </p:sp>
        <p:sp>
          <p:nvSpPr>
            <p:cNvPr id="126" name="Google Shape;126;p3"/>
            <p:cNvSpPr/>
            <p:nvPr/>
          </p:nvSpPr>
          <p:spPr>
            <a:xfrm>
              <a:off x="6606072" y="1600479"/>
              <a:ext cx="1508134" cy="5050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pt-BR" sz="1600" b="1">
                  <a:solidFill>
                    <a:schemeClr val="lt1"/>
                  </a:solidFill>
                  <a:latin typeface="Calibri"/>
                  <a:ea typeface="Calibri"/>
                  <a:cs typeface="Calibri"/>
                  <a:sym typeface="Calibri"/>
                </a:rPr>
                <a:t>Start Again</a:t>
              </a:r>
              <a:endParaRPr sz="1600" b="1">
                <a:solidFill>
                  <a:schemeClr val="lt1"/>
                </a:solidFill>
                <a:latin typeface="Calibri"/>
                <a:ea typeface="Calibri"/>
                <a:cs typeface="Calibri"/>
                <a:sym typeface="Calibri"/>
              </a:endParaRPr>
            </a:p>
          </p:txBody>
        </p:sp>
      </p:grpSp>
      <p:sp>
        <p:nvSpPr>
          <p:cNvPr id="127" name="Google Shape;127;p3"/>
          <p:cNvSpPr txBox="1"/>
          <p:nvPr/>
        </p:nvSpPr>
        <p:spPr>
          <a:xfrm>
            <a:off x="8325824" y="-1274293"/>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 name="Google Shape;128;p3"/>
          <p:cNvSpPr/>
          <p:nvPr/>
        </p:nvSpPr>
        <p:spPr>
          <a:xfrm>
            <a:off x="-30651" y="5204656"/>
            <a:ext cx="12192000" cy="1914007"/>
          </a:xfrm>
          <a:prstGeom prst="rect">
            <a:avLst/>
          </a:prstGeom>
          <a:solidFill>
            <a:srgbClr val="D8D8D8">
              <a:alpha val="28627"/>
            </a:srgbClr>
          </a:solidFill>
          <a:ln>
            <a:noFill/>
          </a:ln>
          <a:effectLst>
            <a:outerShdw blurRad="444500" dist="50800" dir="16200000" rotWithShape="0">
              <a:srgbClr val="000000">
                <a:alpha val="8862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9" name="Google Shape;129;p3" descr="Desenho de personagem de desenho animado&#10;&#10;Descrição gerada automaticamente com confiança média"/>
          <p:cNvPicPr preferRelativeResize="0"/>
          <p:nvPr/>
        </p:nvPicPr>
        <p:blipFill rotWithShape="1">
          <a:blip r:embed="rId7">
            <a:alphaModFix/>
          </a:blip>
          <a:srcRect/>
          <a:stretch/>
        </p:blipFill>
        <p:spPr>
          <a:xfrm>
            <a:off x="11185062" y="326916"/>
            <a:ext cx="300935" cy="305234"/>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30" name="Google Shape;130;p3"/>
          <p:cNvSpPr/>
          <p:nvPr/>
        </p:nvSpPr>
        <p:spPr>
          <a:xfrm>
            <a:off x="-14893" y="4892498"/>
            <a:ext cx="12192000" cy="1884194"/>
          </a:xfrm>
          <a:prstGeom prst="rect">
            <a:avLst/>
          </a:prstGeom>
          <a:solidFill>
            <a:srgbClr val="D8D8D8">
              <a:alpha val="28627"/>
            </a:srgbClr>
          </a:solidFill>
          <a:ln>
            <a:noFill/>
          </a:ln>
          <a:effectLst>
            <a:outerShdw blurRad="444500" dist="50800" dir="16200000" rotWithShape="0">
              <a:srgbClr val="000000">
                <a:alpha val="8862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pic>
        <p:nvPicPr>
          <p:cNvPr id="131" name="Google Shape;131;p3"/>
          <p:cNvPicPr preferRelativeResize="0"/>
          <p:nvPr/>
        </p:nvPicPr>
        <p:blipFill rotWithShape="1">
          <a:blip r:embed="rId8">
            <a:alphaModFix/>
          </a:blip>
          <a:srcRect l="12719" r="12718"/>
          <a:stretch/>
        </p:blipFill>
        <p:spPr>
          <a:xfrm>
            <a:off x="0" y="5008093"/>
            <a:ext cx="1379337" cy="1849907"/>
          </a:xfrm>
          <a:prstGeom prst="rect">
            <a:avLst/>
          </a:prstGeom>
          <a:noFill/>
          <a:ln>
            <a:noFill/>
          </a:ln>
        </p:spPr>
      </p:pic>
      <p:pic>
        <p:nvPicPr>
          <p:cNvPr id="133" name="Google Shape;133;p3"/>
          <p:cNvPicPr preferRelativeResize="0"/>
          <p:nvPr/>
        </p:nvPicPr>
        <p:blipFill rotWithShape="1">
          <a:blip r:embed="rId8">
            <a:alphaModFix/>
          </a:blip>
          <a:srcRect l="12878" r="12878"/>
          <a:stretch/>
        </p:blipFill>
        <p:spPr>
          <a:xfrm>
            <a:off x="4433137" y="4985397"/>
            <a:ext cx="1383879" cy="1863951"/>
          </a:xfrm>
          <a:prstGeom prst="rect">
            <a:avLst/>
          </a:prstGeom>
          <a:noFill/>
          <a:ln>
            <a:noFill/>
          </a:ln>
        </p:spPr>
      </p:pic>
      <p:pic>
        <p:nvPicPr>
          <p:cNvPr id="134" name="Google Shape;134;p3"/>
          <p:cNvPicPr preferRelativeResize="0"/>
          <p:nvPr/>
        </p:nvPicPr>
        <p:blipFill rotWithShape="1">
          <a:blip r:embed="rId8">
            <a:alphaModFix/>
          </a:blip>
          <a:srcRect l="12945" r="12944"/>
          <a:stretch/>
        </p:blipFill>
        <p:spPr>
          <a:xfrm>
            <a:off x="8094573" y="5000606"/>
            <a:ext cx="1370964" cy="1849907"/>
          </a:xfrm>
          <a:prstGeom prst="rect">
            <a:avLst/>
          </a:prstGeom>
          <a:noFill/>
          <a:ln>
            <a:noFill/>
          </a:ln>
        </p:spPr>
      </p:pic>
      <p:sp>
        <p:nvSpPr>
          <p:cNvPr id="135" name="Google Shape;135;p3">
            <a:hlinkClick r:id="rId9" action="ppaction://hlinksldjump"/>
          </p:cNvPr>
          <p:cNvSpPr/>
          <p:nvPr/>
        </p:nvSpPr>
        <p:spPr>
          <a:xfrm>
            <a:off x="5399888" y="6260619"/>
            <a:ext cx="1416158" cy="30841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3">
            <a:hlinkClick r:id="" action="ppaction://noaction"/>
          </p:cNvPr>
          <p:cNvSpPr/>
          <p:nvPr/>
        </p:nvSpPr>
        <p:spPr>
          <a:xfrm>
            <a:off x="8896955" y="6260617"/>
            <a:ext cx="2075845" cy="29344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3"/>
          <p:cNvSpPr/>
          <p:nvPr/>
        </p:nvSpPr>
        <p:spPr>
          <a:xfrm rot="2341137">
            <a:off x="11703656" y="5424829"/>
            <a:ext cx="552674" cy="548649"/>
          </a:xfrm>
          <a:prstGeom prst="corner">
            <a:avLst>
              <a:gd name="adj1" fmla="val 12787"/>
              <a:gd name="adj2" fmla="val 14746"/>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 name="Imagem 4">
            <a:extLst>
              <a:ext uri="{FF2B5EF4-FFF2-40B4-BE49-F238E27FC236}">
                <a16:creationId xmlns:a16="http://schemas.microsoft.com/office/drawing/2014/main" id="{1384EF7E-8C46-5EA9-44B8-2F29099EE7DF}"/>
              </a:ext>
            </a:extLst>
          </p:cNvPr>
          <p:cNvPicPr>
            <a:picLocks noChangeAspect="1"/>
          </p:cNvPicPr>
          <p:nvPr/>
        </p:nvPicPr>
        <p:blipFill>
          <a:blip r:embed="rId10"/>
          <a:stretch>
            <a:fillRect/>
          </a:stretch>
        </p:blipFill>
        <p:spPr>
          <a:xfrm>
            <a:off x="30651" y="4897573"/>
            <a:ext cx="1379337" cy="19351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CaixaDeTexto 5">
            <a:extLst>
              <a:ext uri="{FF2B5EF4-FFF2-40B4-BE49-F238E27FC236}">
                <a16:creationId xmlns:a16="http://schemas.microsoft.com/office/drawing/2014/main" id="{61615D1F-2F53-E268-4159-BF01DECC51F4}"/>
              </a:ext>
            </a:extLst>
          </p:cNvPr>
          <p:cNvSpPr txBox="1"/>
          <p:nvPr/>
        </p:nvSpPr>
        <p:spPr>
          <a:xfrm>
            <a:off x="205273" y="4554908"/>
            <a:ext cx="1909898" cy="307777"/>
          </a:xfrm>
          <a:prstGeom prst="rect">
            <a:avLst/>
          </a:prstGeom>
          <a:noFill/>
        </p:spPr>
        <p:txBody>
          <a:bodyPr wrap="square" rtlCol="0">
            <a:spAutoFit/>
          </a:bodyPr>
          <a:lstStyle/>
          <a:p>
            <a:r>
              <a:rPr lang="pt-BR" b="1" dirty="0">
                <a:solidFill>
                  <a:schemeClr val="bg1"/>
                </a:solidFill>
                <a:latin typeface="Century Gothic" panose="020B0502020202020204" pitchFamily="34" charset="0"/>
              </a:rPr>
              <a:t>Populares na Netflix</a:t>
            </a:r>
          </a:p>
        </p:txBody>
      </p:sp>
      <p:pic>
        <p:nvPicPr>
          <p:cNvPr id="8" name="Imagem 7">
            <a:extLst>
              <a:ext uri="{FF2B5EF4-FFF2-40B4-BE49-F238E27FC236}">
                <a16:creationId xmlns:a16="http://schemas.microsoft.com/office/drawing/2014/main" id="{4F413458-D3C6-7CE2-BD44-1CCB1D63A616}"/>
              </a:ext>
            </a:extLst>
          </p:cNvPr>
          <p:cNvPicPr>
            <a:picLocks noChangeAspect="1"/>
          </p:cNvPicPr>
          <p:nvPr/>
        </p:nvPicPr>
        <p:blipFill>
          <a:blip r:embed="rId11"/>
          <a:stretch>
            <a:fillRect/>
          </a:stretch>
        </p:blipFill>
        <p:spPr>
          <a:xfrm>
            <a:off x="1448060" y="4904801"/>
            <a:ext cx="1379338" cy="19207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Imagem 9">
            <a:extLst>
              <a:ext uri="{FF2B5EF4-FFF2-40B4-BE49-F238E27FC236}">
                <a16:creationId xmlns:a16="http://schemas.microsoft.com/office/drawing/2014/main" id="{6A83C10C-5BE4-023A-2A1C-CD35C6F8A8B2}"/>
              </a:ext>
            </a:extLst>
          </p:cNvPr>
          <p:cNvPicPr>
            <a:picLocks noChangeAspect="1"/>
          </p:cNvPicPr>
          <p:nvPr/>
        </p:nvPicPr>
        <p:blipFill>
          <a:blip r:embed="rId12"/>
          <a:stretch>
            <a:fillRect/>
          </a:stretch>
        </p:blipFill>
        <p:spPr>
          <a:xfrm>
            <a:off x="2886254" y="4911768"/>
            <a:ext cx="1323196" cy="19137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Imagem 11">
            <a:extLst>
              <a:ext uri="{FF2B5EF4-FFF2-40B4-BE49-F238E27FC236}">
                <a16:creationId xmlns:a16="http://schemas.microsoft.com/office/drawing/2014/main" id="{C07EA1C4-C241-2F92-659F-B37E970F58A2}"/>
              </a:ext>
            </a:extLst>
          </p:cNvPr>
          <p:cNvPicPr>
            <a:picLocks noChangeAspect="1"/>
          </p:cNvPicPr>
          <p:nvPr/>
        </p:nvPicPr>
        <p:blipFill>
          <a:blip r:embed="rId13"/>
          <a:stretch>
            <a:fillRect/>
          </a:stretch>
        </p:blipFill>
        <p:spPr>
          <a:xfrm>
            <a:off x="4278057" y="4892497"/>
            <a:ext cx="1416158" cy="19498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4" name="Imagem 13">
            <a:extLst>
              <a:ext uri="{FF2B5EF4-FFF2-40B4-BE49-F238E27FC236}">
                <a16:creationId xmlns:a16="http://schemas.microsoft.com/office/drawing/2014/main" id="{B62E9419-FF27-09CC-3DFE-1E73D309AC11}"/>
              </a:ext>
            </a:extLst>
          </p:cNvPr>
          <p:cNvPicPr>
            <a:picLocks noChangeAspect="1"/>
          </p:cNvPicPr>
          <p:nvPr/>
        </p:nvPicPr>
        <p:blipFill>
          <a:blip r:embed="rId14"/>
          <a:stretch>
            <a:fillRect/>
          </a:stretch>
        </p:blipFill>
        <p:spPr>
          <a:xfrm>
            <a:off x="5660109" y="4860886"/>
            <a:ext cx="1451316" cy="19784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6" name="Imagem 15">
            <a:extLst>
              <a:ext uri="{FF2B5EF4-FFF2-40B4-BE49-F238E27FC236}">
                <a16:creationId xmlns:a16="http://schemas.microsoft.com/office/drawing/2014/main" id="{A75CF658-60DA-E145-622E-728ECB64B31F}"/>
              </a:ext>
            </a:extLst>
          </p:cNvPr>
          <p:cNvPicPr>
            <a:picLocks noChangeAspect="1"/>
          </p:cNvPicPr>
          <p:nvPr/>
        </p:nvPicPr>
        <p:blipFill>
          <a:blip r:embed="rId15"/>
          <a:stretch>
            <a:fillRect/>
          </a:stretch>
        </p:blipFill>
        <p:spPr>
          <a:xfrm>
            <a:off x="7077519" y="4897574"/>
            <a:ext cx="1321243" cy="19517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8" name="Imagem 17">
            <a:extLst>
              <a:ext uri="{FF2B5EF4-FFF2-40B4-BE49-F238E27FC236}">
                <a16:creationId xmlns:a16="http://schemas.microsoft.com/office/drawing/2014/main" id="{5E63199E-530C-731F-4F6C-065177AD39EC}"/>
              </a:ext>
            </a:extLst>
          </p:cNvPr>
          <p:cNvPicPr>
            <a:picLocks noChangeAspect="1"/>
          </p:cNvPicPr>
          <p:nvPr/>
        </p:nvPicPr>
        <p:blipFill>
          <a:blip r:embed="rId16"/>
          <a:stretch>
            <a:fillRect/>
          </a:stretch>
        </p:blipFill>
        <p:spPr>
          <a:xfrm>
            <a:off x="8450457" y="4885257"/>
            <a:ext cx="1395662" cy="19640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 name="Imagem 19">
            <a:extLst>
              <a:ext uri="{FF2B5EF4-FFF2-40B4-BE49-F238E27FC236}">
                <a16:creationId xmlns:a16="http://schemas.microsoft.com/office/drawing/2014/main" id="{1FA90ECA-A41A-DAA7-6C0C-41DEE7B363CD}"/>
              </a:ext>
            </a:extLst>
          </p:cNvPr>
          <p:cNvPicPr>
            <a:picLocks noChangeAspect="1"/>
          </p:cNvPicPr>
          <p:nvPr/>
        </p:nvPicPr>
        <p:blipFill>
          <a:blip r:embed="rId17"/>
          <a:stretch>
            <a:fillRect/>
          </a:stretch>
        </p:blipFill>
        <p:spPr>
          <a:xfrm>
            <a:off x="9922262" y="4860887"/>
            <a:ext cx="1285929" cy="19888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3" name="CaixaDeTexto 22">
            <a:extLst>
              <a:ext uri="{FF2B5EF4-FFF2-40B4-BE49-F238E27FC236}">
                <a16:creationId xmlns:a16="http://schemas.microsoft.com/office/drawing/2014/main" id="{E3A07890-DAC5-1B37-5A8A-19714F90331C}"/>
              </a:ext>
            </a:extLst>
          </p:cNvPr>
          <p:cNvSpPr txBox="1"/>
          <p:nvPr/>
        </p:nvSpPr>
        <p:spPr>
          <a:xfrm>
            <a:off x="720319" y="2684252"/>
            <a:ext cx="2309994" cy="261610"/>
          </a:xfrm>
          <a:prstGeom prst="rect">
            <a:avLst/>
          </a:prstGeom>
          <a:noFill/>
        </p:spPr>
        <p:txBody>
          <a:bodyPr wrap="square" rtlCol="0">
            <a:spAutoFit/>
          </a:bodyPr>
          <a:lstStyle/>
          <a:p>
            <a:r>
              <a:rPr lang="pt-BR" sz="1100" b="1" dirty="0">
                <a:solidFill>
                  <a:schemeClr val="accent6"/>
                </a:solidFill>
              </a:rPr>
              <a:t>95% Match    </a:t>
            </a:r>
            <a:r>
              <a:rPr lang="pt-BR" sz="1100" dirty="0">
                <a:solidFill>
                  <a:schemeClr val="bg1"/>
                </a:solidFill>
                <a:latin typeface="Century Gothic" panose="020B0502020202020204" pitchFamily="34" charset="0"/>
              </a:rPr>
              <a:t>2022    1 </a:t>
            </a:r>
            <a:r>
              <a:rPr lang="pt-BR" sz="1100" dirty="0" err="1">
                <a:solidFill>
                  <a:schemeClr val="bg1"/>
                </a:solidFill>
                <a:latin typeface="Century Gothic" panose="020B0502020202020204" pitchFamily="34" charset="0"/>
              </a:rPr>
              <a:t>Season</a:t>
            </a:r>
            <a:endParaRPr lang="pt-BR" sz="1100" dirty="0">
              <a:solidFill>
                <a:schemeClr val="bg1"/>
              </a:solidFill>
              <a:latin typeface="Century Gothic" panose="020B0502020202020204" pitchFamily="34" charset="0"/>
            </a:endParaRPr>
          </a:p>
        </p:txBody>
      </p:sp>
      <p:sp>
        <p:nvSpPr>
          <p:cNvPr id="26" name="CaixaDeTexto 25">
            <a:extLst>
              <a:ext uri="{FF2B5EF4-FFF2-40B4-BE49-F238E27FC236}">
                <a16:creationId xmlns:a16="http://schemas.microsoft.com/office/drawing/2014/main" id="{B30046D2-9643-F2FB-F633-FF82765E7F75}"/>
              </a:ext>
            </a:extLst>
          </p:cNvPr>
          <p:cNvSpPr txBox="1"/>
          <p:nvPr/>
        </p:nvSpPr>
        <p:spPr>
          <a:xfrm>
            <a:off x="2839860" y="2691946"/>
            <a:ext cx="960902" cy="246221"/>
          </a:xfrm>
          <a:prstGeom prst="rect">
            <a:avLst/>
          </a:prstGeom>
          <a:noFill/>
          <a:ln w="3175">
            <a:solidFill>
              <a:schemeClr val="bg1"/>
            </a:solidFill>
          </a:ln>
        </p:spPr>
        <p:txBody>
          <a:bodyPr wrap="square" rtlCol="0">
            <a:spAutoFit/>
          </a:bodyPr>
          <a:lstStyle/>
          <a:p>
            <a:r>
              <a:rPr lang="pt-BR" sz="1000" dirty="0">
                <a:solidFill>
                  <a:schemeClr val="bg1"/>
                </a:solidFill>
                <a:latin typeface="Century Gothic" panose="020B0502020202020204" pitchFamily="34" charset="0"/>
              </a:rPr>
              <a:t>  4K Ultra HD</a:t>
            </a:r>
            <a:endParaRPr lang="pt-BR" sz="1000" dirty="0"/>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79"/>
        <p:cNvGrpSpPr/>
        <p:nvPr/>
      </p:nvGrpSpPr>
      <p:grpSpPr>
        <a:xfrm>
          <a:off x="0" y="0"/>
          <a:ext cx="0" cy="0"/>
          <a:chOff x="0" y="0"/>
          <a:chExt cx="0" cy="0"/>
        </a:xfrm>
      </p:grpSpPr>
      <p:pic>
        <p:nvPicPr>
          <p:cNvPr id="180" name="Google Shape;180;p5"/>
          <p:cNvPicPr preferRelativeResize="0"/>
          <p:nvPr/>
        </p:nvPicPr>
        <p:blipFill rotWithShape="1">
          <a:blip r:embed="rId3">
            <a:alphaModFix/>
          </a:blip>
          <a:srcRect/>
          <a:stretch/>
        </p:blipFill>
        <p:spPr>
          <a:xfrm>
            <a:off x="7246518" y="728747"/>
            <a:ext cx="4933161" cy="6097914"/>
          </a:xfrm>
          <a:prstGeom prst="rect">
            <a:avLst/>
          </a:prstGeom>
          <a:noFill/>
          <a:ln>
            <a:noFill/>
          </a:ln>
        </p:spPr>
      </p:pic>
      <p:sp>
        <p:nvSpPr>
          <p:cNvPr id="181" name="Google Shape;181;p5"/>
          <p:cNvSpPr/>
          <p:nvPr/>
        </p:nvSpPr>
        <p:spPr>
          <a:xfrm>
            <a:off x="3802323" y="0"/>
            <a:ext cx="8357316" cy="6858000"/>
          </a:xfrm>
          <a:prstGeom prst="rect">
            <a:avLst/>
          </a:prstGeom>
          <a:gradFill>
            <a:gsLst>
              <a:gs pos="0">
                <a:schemeClr val="dk1"/>
              </a:gs>
              <a:gs pos="24000">
                <a:srgbClr val="000000"/>
              </a:gs>
              <a:gs pos="72000">
                <a:srgbClr val="000000">
                  <a:alpha val="31764"/>
                </a:srgbClr>
              </a:gs>
              <a:gs pos="100000">
                <a:srgbClr val="000000">
                  <a:alpha val="31764"/>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2" name="Google Shape;182;p5"/>
          <p:cNvSpPr/>
          <p:nvPr/>
        </p:nvSpPr>
        <p:spPr>
          <a:xfrm>
            <a:off x="0" y="0"/>
            <a:ext cx="12192000" cy="749596"/>
          </a:xfrm>
          <a:prstGeom prst="rect">
            <a:avLst/>
          </a:prstGeom>
          <a:solidFill>
            <a:srgbClr val="171616"/>
          </a:solidFill>
          <a:ln>
            <a:noFill/>
          </a:ln>
          <a:effectLst>
            <a:outerShdw blurRad="304800" dist="381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 name="Google Shape;183;p5"/>
          <p:cNvSpPr txBox="1"/>
          <p:nvPr/>
        </p:nvSpPr>
        <p:spPr>
          <a:xfrm>
            <a:off x="344051" y="1904804"/>
            <a:ext cx="7268336"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3200" dirty="0">
                <a:solidFill>
                  <a:schemeClr val="lt1"/>
                </a:solidFill>
                <a:latin typeface="Century Gothic"/>
                <a:sym typeface="Century Gothic"/>
              </a:rPr>
              <a:t>NETFLIX ORIGINAL &amp; IMDB SCORES</a:t>
            </a:r>
          </a:p>
        </p:txBody>
      </p:sp>
      <p:grpSp>
        <p:nvGrpSpPr>
          <p:cNvPr id="184" name="Google Shape;184;p5"/>
          <p:cNvGrpSpPr/>
          <p:nvPr/>
        </p:nvGrpSpPr>
        <p:grpSpPr>
          <a:xfrm>
            <a:off x="333276" y="5671548"/>
            <a:ext cx="1441445" cy="406169"/>
            <a:chOff x="6416299" y="1532825"/>
            <a:chExt cx="1935237" cy="605941"/>
          </a:xfrm>
        </p:grpSpPr>
        <p:sp>
          <p:nvSpPr>
            <p:cNvPr id="185" name="Google Shape;185;p5"/>
            <p:cNvSpPr/>
            <p:nvPr/>
          </p:nvSpPr>
          <p:spPr>
            <a:xfrm>
              <a:off x="6416299" y="1532825"/>
              <a:ext cx="1935237" cy="605941"/>
            </a:xfrm>
            <a:prstGeom prst="roundRect">
              <a:avLst>
                <a:gd name="adj" fmla="val 41046"/>
              </a:avLst>
            </a:prstGeom>
            <a:solidFill>
              <a:srgbClr val="C00000"/>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endParaRPr sz="1800" b="1">
                <a:solidFill>
                  <a:schemeClr val="lt1"/>
                </a:solidFill>
                <a:latin typeface="Calibri"/>
                <a:ea typeface="Calibri"/>
                <a:cs typeface="Calibri"/>
                <a:sym typeface="Calibri"/>
              </a:endParaRPr>
            </a:p>
          </p:txBody>
        </p:sp>
        <p:sp>
          <p:nvSpPr>
            <p:cNvPr id="186" name="Google Shape;186;p5"/>
            <p:cNvSpPr/>
            <p:nvPr/>
          </p:nvSpPr>
          <p:spPr>
            <a:xfrm>
              <a:off x="6992012" y="1582283"/>
              <a:ext cx="783810" cy="5050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pt-BR" sz="1600" b="1">
                  <a:solidFill>
                    <a:schemeClr val="lt1"/>
                  </a:solidFill>
                  <a:latin typeface="Calibri"/>
                  <a:ea typeface="Calibri"/>
                  <a:cs typeface="Calibri"/>
                  <a:sym typeface="Calibri"/>
                </a:rPr>
                <a:t>Next</a:t>
              </a:r>
              <a:endParaRPr sz="1600" b="1">
                <a:solidFill>
                  <a:schemeClr val="lt1"/>
                </a:solidFill>
                <a:latin typeface="Calibri"/>
                <a:ea typeface="Calibri"/>
                <a:cs typeface="Calibri"/>
                <a:sym typeface="Calibri"/>
              </a:endParaRPr>
            </a:p>
          </p:txBody>
        </p:sp>
        <p:sp>
          <p:nvSpPr>
            <p:cNvPr id="187" name="Google Shape;187;p5"/>
            <p:cNvSpPr/>
            <p:nvPr/>
          </p:nvSpPr>
          <p:spPr>
            <a:xfrm rot="5400000">
              <a:off x="6761353" y="1743893"/>
              <a:ext cx="222521" cy="19182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88" name="Google Shape;188;p5"/>
          <p:cNvGrpSpPr/>
          <p:nvPr/>
        </p:nvGrpSpPr>
        <p:grpSpPr>
          <a:xfrm>
            <a:off x="2043162" y="5671548"/>
            <a:ext cx="1441445" cy="406169"/>
            <a:chOff x="2211540" y="4472363"/>
            <a:chExt cx="1441445" cy="406169"/>
          </a:xfrm>
        </p:grpSpPr>
        <p:grpSp>
          <p:nvGrpSpPr>
            <p:cNvPr id="189" name="Google Shape;189;p5"/>
            <p:cNvGrpSpPr/>
            <p:nvPr/>
          </p:nvGrpSpPr>
          <p:grpSpPr>
            <a:xfrm>
              <a:off x="2211540" y="4472363"/>
              <a:ext cx="1441445" cy="406169"/>
              <a:chOff x="6416299" y="1532825"/>
              <a:chExt cx="1935237" cy="605941"/>
            </a:xfrm>
          </p:grpSpPr>
          <p:sp>
            <p:nvSpPr>
              <p:cNvPr id="190" name="Google Shape;190;p5"/>
              <p:cNvSpPr/>
              <p:nvPr/>
            </p:nvSpPr>
            <p:spPr>
              <a:xfrm>
                <a:off x="6416299" y="1532825"/>
                <a:ext cx="1935237" cy="605941"/>
              </a:xfrm>
              <a:prstGeom prst="roundRect">
                <a:avLst>
                  <a:gd name="adj" fmla="val 41046"/>
                </a:avLst>
              </a:prstGeom>
              <a:solidFill>
                <a:schemeClr val="lt1">
                  <a:alpha val="29803"/>
                </a:schemeClr>
              </a:solidFill>
              <a:ln w="158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b="1">
                  <a:solidFill>
                    <a:schemeClr val="lt1"/>
                  </a:solidFill>
                  <a:latin typeface="Calibri"/>
                  <a:ea typeface="Calibri"/>
                  <a:cs typeface="Calibri"/>
                  <a:sym typeface="Calibri"/>
                </a:endParaRPr>
              </a:p>
            </p:txBody>
          </p:sp>
          <p:sp>
            <p:nvSpPr>
              <p:cNvPr id="191" name="Google Shape;191;p5"/>
              <p:cNvSpPr/>
              <p:nvPr/>
            </p:nvSpPr>
            <p:spPr>
              <a:xfrm>
                <a:off x="6967522" y="1582283"/>
                <a:ext cx="1066945" cy="5050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pt-BR" sz="1600" b="1">
                    <a:solidFill>
                      <a:schemeClr val="lt1"/>
                    </a:solidFill>
                    <a:latin typeface="Calibri"/>
                    <a:ea typeface="Calibri"/>
                    <a:cs typeface="Calibri"/>
                    <a:sym typeface="Calibri"/>
                  </a:rPr>
                  <a:t>My List</a:t>
                </a:r>
                <a:endParaRPr/>
              </a:p>
            </p:txBody>
          </p:sp>
        </p:grpSp>
        <p:sp>
          <p:nvSpPr>
            <p:cNvPr id="192" name="Google Shape;192;p5"/>
            <p:cNvSpPr/>
            <p:nvPr/>
          </p:nvSpPr>
          <p:spPr>
            <a:xfrm>
              <a:off x="2384358" y="4474737"/>
              <a:ext cx="312907" cy="40011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pt-BR" sz="2000" b="1">
                  <a:solidFill>
                    <a:schemeClr val="lt1"/>
                  </a:solidFill>
                  <a:latin typeface="Calibri"/>
                  <a:ea typeface="Calibri"/>
                  <a:cs typeface="Calibri"/>
                  <a:sym typeface="Calibri"/>
                </a:rPr>
                <a:t>+</a:t>
              </a:r>
              <a:endParaRPr/>
            </a:p>
          </p:txBody>
        </p:sp>
      </p:grpSp>
      <p:sp>
        <p:nvSpPr>
          <p:cNvPr id="193" name="Google Shape;193;p5"/>
          <p:cNvSpPr txBox="1"/>
          <p:nvPr/>
        </p:nvSpPr>
        <p:spPr>
          <a:xfrm>
            <a:off x="344051" y="1421607"/>
            <a:ext cx="246259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b="1">
                <a:solidFill>
                  <a:schemeClr val="lt1"/>
                </a:solidFill>
                <a:latin typeface="Calibri"/>
                <a:ea typeface="Calibri"/>
                <a:cs typeface="Calibri"/>
                <a:sym typeface="Calibri"/>
              </a:rPr>
              <a:t>SEASON 1: EPISODE </a:t>
            </a:r>
            <a:r>
              <a:rPr lang="pt-BR" sz="2000">
                <a:solidFill>
                  <a:schemeClr val="lt1"/>
                </a:solidFill>
                <a:latin typeface="Calibri"/>
                <a:ea typeface="Calibri"/>
                <a:cs typeface="Calibri"/>
                <a:sym typeface="Calibri"/>
              </a:rPr>
              <a:t>1</a:t>
            </a:r>
            <a:endParaRPr/>
          </a:p>
        </p:txBody>
      </p:sp>
      <p:sp>
        <p:nvSpPr>
          <p:cNvPr id="194" name="Google Shape;194;p5">
            <a:hlinkClick r:id="" action="ppaction://hlinkshowjump?jump=nextslide"/>
          </p:cNvPr>
          <p:cNvSpPr/>
          <p:nvPr/>
        </p:nvSpPr>
        <p:spPr>
          <a:xfrm>
            <a:off x="331690" y="5652725"/>
            <a:ext cx="1441444" cy="420586"/>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5" name="Google Shape;195;p5">
            <a:hlinkClick r:id="rId4" action="ppaction://hlinksldjump"/>
          </p:cNvPr>
          <p:cNvSpPr/>
          <p:nvPr/>
        </p:nvSpPr>
        <p:spPr>
          <a:xfrm>
            <a:off x="2042847" y="5658305"/>
            <a:ext cx="1409591" cy="431344"/>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pic>
        <p:nvPicPr>
          <p:cNvPr id="196" name="Google Shape;196;p5" descr="Uma imagem contendo objeto, relógio, laranja, trem&#10;&#10;Descrição gerada automaticamente"/>
          <p:cNvPicPr preferRelativeResize="0"/>
          <p:nvPr/>
        </p:nvPicPr>
        <p:blipFill rotWithShape="1">
          <a:blip r:embed="rId5">
            <a:alphaModFix/>
          </a:blip>
          <a:srcRect/>
          <a:stretch/>
        </p:blipFill>
        <p:spPr>
          <a:xfrm>
            <a:off x="413645" y="128016"/>
            <a:ext cx="1864519" cy="633110"/>
          </a:xfrm>
          <a:prstGeom prst="rect">
            <a:avLst/>
          </a:prstGeom>
          <a:noFill/>
          <a:ln>
            <a:noFill/>
          </a:ln>
        </p:spPr>
      </p:pic>
      <p:sp>
        <p:nvSpPr>
          <p:cNvPr id="197" name="Google Shape;197;p5"/>
          <p:cNvSpPr/>
          <p:nvPr/>
        </p:nvSpPr>
        <p:spPr>
          <a:xfrm>
            <a:off x="331690" y="2763863"/>
            <a:ext cx="6715417" cy="307736"/>
          </a:xfrm>
          <a:prstGeom prst="rect">
            <a:avLst/>
          </a:prstGeom>
          <a:noFill/>
          <a:ln>
            <a:noFill/>
          </a:ln>
        </p:spPr>
        <p:txBody>
          <a:bodyPr spcFirstLastPara="1" wrap="square" lIns="91425" tIns="45700" rIns="91425" bIns="45700" anchor="t" anchorCtr="0">
            <a:spAutoFit/>
          </a:bodyPr>
          <a:lstStyle/>
          <a:p>
            <a:pPr lvl="0" algn="just"/>
            <a:endParaRPr dirty="0">
              <a:solidFill>
                <a:schemeClr val="bg1"/>
              </a:solidFill>
              <a:latin typeface="Century Gothic" panose="020B0502020202020204" pitchFamily="34" charset="0"/>
            </a:endParaRPr>
          </a:p>
        </p:txBody>
      </p:sp>
      <p:sp>
        <p:nvSpPr>
          <p:cNvPr id="198" name="Google Shape;198;p5"/>
          <p:cNvSpPr/>
          <p:nvPr/>
        </p:nvSpPr>
        <p:spPr>
          <a:xfrm>
            <a:off x="108231" y="2892186"/>
            <a:ext cx="124354" cy="57912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p5"/>
          <p:cNvSpPr/>
          <p:nvPr/>
        </p:nvSpPr>
        <p:spPr>
          <a:xfrm>
            <a:off x="326915" y="2775393"/>
            <a:ext cx="6715418" cy="2285201"/>
          </a:xfrm>
          <a:prstGeom prst="rect">
            <a:avLst/>
          </a:prstGeom>
          <a:noFill/>
          <a:ln>
            <a:noFill/>
          </a:ln>
        </p:spPr>
        <p:txBody>
          <a:bodyPr spcFirstLastPara="1" wrap="square" lIns="91425" tIns="45700" rIns="91425" bIns="45700" anchor="t" anchorCtr="0">
            <a:spAutoFit/>
          </a:bodyPr>
          <a:lstStyle/>
          <a:p>
            <a:pPr lvl="0" algn="just"/>
            <a:r>
              <a:rPr lang="pt-BR" sz="1200" dirty="0">
                <a:solidFill>
                  <a:schemeClr val="lt1"/>
                </a:solidFill>
                <a:latin typeface="Century Gothic"/>
                <a:ea typeface="Century Gothic"/>
                <a:cs typeface="Century Gothic"/>
                <a:sym typeface="Century Gothic"/>
              </a:rPr>
              <a:t>Atualmente, todos queremos uma plataforma de streaming inteligente que conheça nossas preferências e gostos, mas de maneira natural. Por isso, a Netflix investe em sistemas de recomendação, que interagem diariamente com o usuário, mesmo que de maneira oculta . </a:t>
            </a:r>
          </a:p>
          <a:p>
            <a:pPr lvl="0" algn="just"/>
            <a:endParaRPr lang="pt-BR" sz="1200" dirty="0">
              <a:solidFill>
                <a:schemeClr val="lt1"/>
              </a:solidFill>
              <a:latin typeface="Century Gothic"/>
              <a:sym typeface="Century Gothic"/>
            </a:endParaRPr>
          </a:p>
          <a:p>
            <a:r>
              <a:rPr lang="pt-BR" sz="1200" dirty="0">
                <a:solidFill>
                  <a:schemeClr val="bg1"/>
                </a:solidFill>
                <a:latin typeface="Century Gothic" panose="020B0502020202020204" pitchFamily="34" charset="0"/>
              </a:rPr>
              <a:t>A Netflix se baseia nos hábitos dos consumidores para aprimorar seus algoritmos de sugestão. Para novos assinantes, a plataforma fará recomendações básicas. Eles estimam a probabilidade de alguém assistir a algum título do catálogo com base em informações como: Notas dadas pelo perfil a outros títulos da plataforma, outros usuários com preferências e gostos parecidos e gênero, categorias, atores e ano de lançamento do título.</a:t>
            </a:r>
          </a:p>
          <a:p>
            <a:pPr lvl="0" algn="just"/>
            <a:endParaRPr lang="pt-BR" sz="1050" dirty="0">
              <a:solidFill>
                <a:schemeClr val="bg1"/>
              </a:solidFill>
              <a:latin typeface="Century Gothic" panose="020B0502020202020204" pitchFamily="34" charset="0"/>
            </a:endParaRPr>
          </a:p>
        </p:txBody>
      </p:sp>
      <p:sp>
        <p:nvSpPr>
          <p:cNvPr id="200" name="Google Shape;200;p5"/>
          <p:cNvSpPr/>
          <p:nvPr/>
        </p:nvSpPr>
        <p:spPr>
          <a:xfrm>
            <a:off x="108231" y="3723901"/>
            <a:ext cx="124354" cy="579120"/>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 name="Google Shape;201;p5"/>
          <p:cNvSpPr txBox="1"/>
          <p:nvPr/>
        </p:nvSpPr>
        <p:spPr>
          <a:xfrm>
            <a:off x="2487371" y="301443"/>
            <a:ext cx="69865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Início     Filmes     Séries     Minha Lista </a:t>
            </a:r>
            <a:endParaRPr/>
          </a:p>
        </p:txBody>
      </p:sp>
      <p:pic>
        <p:nvPicPr>
          <p:cNvPr id="202" name="Google Shape;202;p5" descr="Ícone&#10;&#10;Descrição gerada automaticamente"/>
          <p:cNvPicPr preferRelativeResize="0"/>
          <p:nvPr/>
        </p:nvPicPr>
        <p:blipFill rotWithShape="1">
          <a:blip r:embed="rId6">
            <a:alphaModFix/>
          </a:blip>
          <a:srcRect/>
          <a:stretch/>
        </p:blipFill>
        <p:spPr>
          <a:xfrm>
            <a:off x="9880255" y="331280"/>
            <a:ext cx="459581" cy="459581"/>
          </a:xfrm>
          <a:prstGeom prst="rect">
            <a:avLst/>
          </a:prstGeom>
          <a:noFill/>
          <a:ln>
            <a:noFill/>
          </a:ln>
        </p:spPr>
      </p:pic>
      <p:sp>
        <p:nvSpPr>
          <p:cNvPr id="203" name="Google Shape;203;p5"/>
          <p:cNvSpPr txBox="1"/>
          <p:nvPr/>
        </p:nvSpPr>
        <p:spPr>
          <a:xfrm>
            <a:off x="8791566" y="331280"/>
            <a:ext cx="12666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Pesquisar</a:t>
            </a:r>
            <a:r>
              <a:rPr lang="pt-BR" sz="1800">
                <a:solidFill>
                  <a:schemeClr val="lt1"/>
                </a:solidFill>
                <a:latin typeface="Lato Light"/>
                <a:ea typeface="Lato Light"/>
                <a:cs typeface="Lato Light"/>
                <a:sym typeface="Lato Light"/>
              </a:rPr>
              <a:t> </a:t>
            </a:r>
            <a:endParaRPr/>
          </a:p>
        </p:txBody>
      </p:sp>
      <p:grpSp>
        <p:nvGrpSpPr>
          <p:cNvPr id="204" name="Google Shape;204;p5"/>
          <p:cNvGrpSpPr/>
          <p:nvPr/>
        </p:nvGrpSpPr>
        <p:grpSpPr>
          <a:xfrm>
            <a:off x="10120329" y="273308"/>
            <a:ext cx="1693635" cy="369332"/>
            <a:chOff x="9828445" y="385086"/>
            <a:chExt cx="1693635" cy="369332"/>
          </a:xfrm>
        </p:grpSpPr>
        <p:sp>
          <p:nvSpPr>
            <p:cNvPr id="205" name="Google Shape;205;p5"/>
            <p:cNvSpPr txBox="1"/>
            <p:nvPr/>
          </p:nvSpPr>
          <p:spPr>
            <a:xfrm>
              <a:off x="9828445" y="385086"/>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5"/>
            <p:cNvSpPr/>
            <p:nvPr/>
          </p:nvSpPr>
          <p:spPr>
            <a:xfrm rot="10800000" flipH="1">
              <a:off x="11351815" y="535451"/>
              <a:ext cx="170265" cy="14677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207" name="Google Shape;207;p5" descr="Desenho de personagem de desenho animado&#10;&#10;Descrição gerada automaticamente com confiança média"/>
          <p:cNvPicPr preferRelativeResize="0"/>
          <p:nvPr/>
        </p:nvPicPr>
        <p:blipFill rotWithShape="1">
          <a:blip r:embed="rId7">
            <a:alphaModFix/>
          </a:blip>
          <a:srcRect/>
          <a:stretch/>
        </p:blipFill>
        <p:spPr>
          <a:xfrm>
            <a:off x="11185062" y="326916"/>
            <a:ext cx="300935" cy="305234"/>
          </a:xfrm>
          <a:prstGeom prst="roundRect">
            <a:avLst>
              <a:gd name="adj" fmla="val 16667"/>
            </a:avLst>
          </a:prstGeom>
          <a:noFill/>
          <a:ln>
            <a:noFill/>
          </a:ln>
          <a:effectLst>
            <a:outerShdw blurRad="76200" dist="38100" dir="7800000" algn="tl" rotWithShape="0">
              <a:srgbClr val="000000">
                <a:alpha val="40000"/>
              </a:srgbClr>
            </a:outerShdw>
          </a:effectLst>
        </p:spPr>
      </p:pic>
      <p:pic>
        <p:nvPicPr>
          <p:cNvPr id="3" name="Imagem 2">
            <a:extLst>
              <a:ext uri="{FF2B5EF4-FFF2-40B4-BE49-F238E27FC236}">
                <a16:creationId xmlns:a16="http://schemas.microsoft.com/office/drawing/2014/main" id="{09E6E511-6B1B-8C49-E52A-09BF22209C35}"/>
              </a:ext>
            </a:extLst>
          </p:cNvPr>
          <p:cNvPicPr>
            <a:picLocks noChangeAspect="1"/>
          </p:cNvPicPr>
          <p:nvPr/>
        </p:nvPicPr>
        <p:blipFill rotWithShape="1">
          <a:blip r:embed="rId8"/>
          <a:srcRect l="24649" t="910" r="32183" b="916"/>
          <a:stretch/>
        </p:blipFill>
        <p:spPr>
          <a:xfrm>
            <a:off x="7246518" y="718257"/>
            <a:ext cx="4945481" cy="6108404"/>
          </a:xfrm>
          <a:prstGeom prst="rect">
            <a:avLst/>
          </a:prstGeom>
        </p:spPr>
      </p:pic>
      <p:sp>
        <p:nvSpPr>
          <p:cNvPr id="9" name="Fluxograma: Terminação 8">
            <a:extLst>
              <a:ext uri="{FF2B5EF4-FFF2-40B4-BE49-F238E27FC236}">
                <a16:creationId xmlns:a16="http://schemas.microsoft.com/office/drawing/2014/main" id="{D7CAF792-AE2C-F2FF-D42A-D307428ABFCC}"/>
              </a:ext>
            </a:extLst>
          </p:cNvPr>
          <p:cNvSpPr/>
          <p:nvPr/>
        </p:nvSpPr>
        <p:spPr>
          <a:xfrm>
            <a:off x="3802323" y="5667143"/>
            <a:ext cx="914400" cy="406168"/>
          </a:xfrm>
          <a:prstGeom prst="flowChartTerminator">
            <a:avLst/>
          </a:prstGeom>
          <a:solidFill>
            <a:srgbClr val="4C4C4C"/>
          </a:solidFill>
          <a:ln w="19050"/>
        </p:spPr>
        <p:style>
          <a:lnRef idx="3">
            <a:schemeClr val="lt1"/>
          </a:lnRef>
          <a:fillRef idx="1002">
            <a:schemeClr val="lt2"/>
          </a:fillRef>
          <a:effectRef idx="1">
            <a:schemeClr val="accent3"/>
          </a:effectRef>
          <a:fontRef idx="minor">
            <a:schemeClr val="lt1"/>
          </a:fontRef>
        </p:style>
        <p:txBody>
          <a:bodyPr rtlCol="0" anchor="ctr"/>
          <a:lstStyle/>
          <a:p>
            <a:pPr algn="ctr"/>
            <a:endParaRPr lang="pt-BR" dirty="0"/>
          </a:p>
        </p:txBody>
      </p:sp>
      <p:pic>
        <p:nvPicPr>
          <p:cNvPr id="11" name="Gráfico 10" descr="Sinal de polegar para cima">
            <a:extLst>
              <a:ext uri="{FF2B5EF4-FFF2-40B4-BE49-F238E27FC236}">
                <a16:creationId xmlns:a16="http://schemas.microsoft.com/office/drawing/2014/main" id="{BFF7D568-5A66-82C4-ACE6-E58592AD566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139920" y="5711246"/>
            <a:ext cx="303544" cy="303544"/>
          </a:xfrm>
          <a:prstGeom prst="rect">
            <a:avLst/>
          </a:prstGeom>
        </p:spPr>
      </p:pic>
      <p:sp>
        <p:nvSpPr>
          <p:cNvPr id="13" name="Fluxograma: Terminação 12">
            <a:extLst>
              <a:ext uri="{FF2B5EF4-FFF2-40B4-BE49-F238E27FC236}">
                <a16:creationId xmlns:a16="http://schemas.microsoft.com/office/drawing/2014/main" id="{F0075132-1AC5-EF55-424A-87B3CAC1664B}"/>
              </a:ext>
            </a:extLst>
          </p:cNvPr>
          <p:cNvSpPr/>
          <p:nvPr/>
        </p:nvSpPr>
        <p:spPr>
          <a:xfrm>
            <a:off x="5018702" y="5657452"/>
            <a:ext cx="914400" cy="420266"/>
          </a:xfrm>
          <a:prstGeom prst="flowChartTerminator">
            <a:avLst/>
          </a:prstGeom>
          <a:solidFill>
            <a:srgbClr val="4C4C4C"/>
          </a:solidFill>
          <a:ln w="19050"/>
        </p:spPr>
        <p:style>
          <a:lnRef idx="3">
            <a:schemeClr val="lt1"/>
          </a:lnRef>
          <a:fillRef idx="1002">
            <a:schemeClr val="lt2"/>
          </a:fillRef>
          <a:effectRef idx="1">
            <a:schemeClr val="accent3"/>
          </a:effectRef>
          <a:fontRef idx="minor">
            <a:schemeClr val="lt1"/>
          </a:fontRef>
        </p:style>
        <p:txBody>
          <a:bodyPr rtlCol="0" anchor="ctr"/>
          <a:lstStyle/>
          <a:p>
            <a:pPr algn="ctr"/>
            <a:endParaRPr lang="pt-BR" dirty="0"/>
          </a:p>
        </p:txBody>
      </p:sp>
      <p:pic>
        <p:nvPicPr>
          <p:cNvPr id="15" name="Gráfico 14" descr="Sinal de polegar para cima">
            <a:extLst>
              <a:ext uri="{FF2B5EF4-FFF2-40B4-BE49-F238E27FC236}">
                <a16:creationId xmlns:a16="http://schemas.microsoft.com/office/drawing/2014/main" id="{05E6CE4C-92A2-1B64-6B9C-3E64D5A68D7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0800000">
            <a:off x="5337786" y="5711246"/>
            <a:ext cx="329299" cy="329299"/>
          </a:xfrm>
          <a:prstGeom prst="rect">
            <a:avLst/>
          </a:prstGeom>
        </p:spPr>
      </p:pic>
      <p:sp>
        <p:nvSpPr>
          <p:cNvPr id="16" name="CaixaDeTexto 15">
            <a:extLst>
              <a:ext uri="{FF2B5EF4-FFF2-40B4-BE49-F238E27FC236}">
                <a16:creationId xmlns:a16="http://schemas.microsoft.com/office/drawing/2014/main" id="{AF638814-DBC1-7F1F-C158-E2BD755EBEA5}"/>
              </a:ext>
            </a:extLst>
          </p:cNvPr>
          <p:cNvSpPr txBox="1"/>
          <p:nvPr/>
        </p:nvSpPr>
        <p:spPr>
          <a:xfrm>
            <a:off x="322369" y="5145646"/>
            <a:ext cx="1720478" cy="400110"/>
          </a:xfrm>
          <a:prstGeom prst="rect">
            <a:avLst/>
          </a:prstGeom>
          <a:noFill/>
        </p:spPr>
        <p:txBody>
          <a:bodyPr wrap="square" rtlCol="0">
            <a:spAutoFit/>
          </a:bodyPr>
          <a:lstStyle/>
          <a:p>
            <a:r>
              <a:rPr lang="pt-BR" sz="1000" i="1" dirty="0">
                <a:solidFill>
                  <a:schemeClr val="tx1">
                    <a:lumMod val="50000"/>
                    <a:lumOff val="50000"/>
                  </a:schemeClr>
                </a:solidFill>
              </a:rPr>
              <a:t>Diretor: Ênio Bruce</a:t>
            </a:r>
          </a:p>
          <a:p>
            <a:r>
              <a:rPr lang="pt-BR" sz="1000" i="1" dirty="0">
                <a:solidFill>
                  <a:schemeClr val="tx1">
                    <a:lumMod val="50000"/>
                    <a:lumOff val="50000"/>
                  </a:schemeClr>
                </a:solidFill>
              </a:rPr>
              <a:t>Gênero: Terror, Drama</a:t>
            </a: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500"/>
                                        <p:tgtEl>
                                          <p:spTgt spid="198"/>
                                        </p:tgtEl>
                                      </p:cBhvr>
                                    </p:animEffect>
                                  </p:childTnLst>
                                </p:cTn>
                              </p:par>
                              <p:par>
                                <p:cTn id="8" presetID="10" presetClass="entr" presetSubtype="0" fill="hold" nodeType="withEffect">
                                  <p:stCondLst>
                                    <p:cond delay="0"/>
                                  </p:stCondLst>
                                  <p:childTnLst>
                                    <p:set>
                                      <p:cBhvr>
                                        <p:cTn id="9" dur="1" fill="hold">
                                          <p:stCondLst>
                                            <p:cond delay="0"/>
                                          </p:stCondLst>
                                        </p:cTn>
                                        <p:tgtEl>
                                          <p:spTgt spid="197"/>
                                        </p:tgtEl>
                                        <p:attrNameLst>
                                          <p:attrName>style.visibility</p:attrName>
                                        </p:attrNameLst>
                                      </p:cBhvr>
                                      <p:to>
                                        <p:strVal val="visible"/>
                                      </p:to>
                                    </p:set>
                                    <p:animEffect transition="in" filter="fade">
                                      <p:cBhvr>
                                        <p:cTn id="10" dur="500"/>
                                        <p:tgtEl>
                                          <p:spTgt spid="19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0"/>
                                        </p:tgtEl>
                                        <p:attrNameLst>
                                          <p:attrName>style.visibility</p:attrName>
                                        </p:attrNameLst>
                                      </p:cBhvr>
                                      <p:to>
                                        <p:strVal val="visible"/>
                                      </p:to>
                                    </p:set>
                                    <p:animEffect transition="in" filter="fade">
                                      <p:cBhvr>
                                        <p:cTn id="15" dur="500"/>
                                        <p:tgtEl>
                                          <p:spTgt spid="200"/>
                                        </p:tgtEl>
                                      </p:cBhvr>
                                    </p:animEffect>
                                  </p:childTnLst>
                                </p:cTn>
                              </p:par>
                              <p:par>
                                <p:cTn id="16" presetID="10" presetClass="entr" presetSubtype="0" fill="hold" nodeType="withEffect">
                                  <p:stCondLst>
                                    <p:cond delay="0"/>
                                  </p:stCondLst>
                                  <p:childTnLst>
                                    <p:set>
                                      <p:cBhvr>
                                        <p:cTn id="17" dur="1" fill="hold">
                                          <p:stCondLst>
                                            <p:cond delay="0"/>
                                          </p:stCondLst>
                                        </p:cTn>
                                        <p:tgtEl>
                                          <p:spTgt spid="199"/>
                                        </p:tgtEl>
                                        <p:attrNameLst>
                                          <p:attrName>style.visibility</p:attrName>
                                        </p:attrNameLst>
                                      </p:cBhvr>
                                      <p:to>
                                        <p:strVal val="visible"/>
                                      </p:to>
                                    </p:set>
                                    <p:animEffect transition="in" filter="fade">
                                      <p:cBhvr>
                                        <p:cTn id="18" dur="5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6" name="Imagem 5">
            <a:extLst>
              <a:ext uri="{FF2B5EF4-FFF2-40B4-BE49-F238E27FC236}">
                <a16:creationId xmlns:a16="http://schemas.microsoft.com/office/drawing/2014/main" id="{03585438-C87B-D21F-6667-CE76ABEE8F10}"/>
              </a:ext>
            </a:extLst>
          </p:cNvPr>
          <p:cNvPicPr>
            <a:picLocks noChangeAspect="1"/>
          </p:cNvPicPr>
          <p:nvPr/>
        </p:nvPicPr>
        <p:blipFill>
          <a:blip r:embed="rId3"/>
          <a:stretch>
            <a:fillRect/>
          </a:stretch>
        </p:blipFill>
        <p:spPr>
          <a:xfrm>
            <a:off x="0" y="0"/>
            <a:ext cx="12192000" cy="6858000"/>
          </a:xfrm>
          <a:prstGeom prst="rect">
            <a:avLst/>
          </a:prstGeom>
        </p:spPr>
      </p:pic>
      <p:sp>
        <p:nvSpPr>
          <p:cNvPr id="212" name="Google Shape;212;p6"/>
          <p:cNvSpPr/>
          <p:nvPr/>
        </p:nvSpPr>
        <p:spPr>
          <a:xfrm>
            <a:off x="0" y="0"/>
            <a:ext cx="12192000" cy="6858000"/>
          </a:xfrm>
          <a:prstGeom prst="rect">
            <a:avLst/>
          </a:prstGeom>
          <a:gradFill>
            <a:gsLst>
              <a:gs pos="0">
                <a:schemeClr val="dk1"/>
              </a:gs>
              <a:gs pos="9000">
                <a:srgbClr val="000000"/>
              </a:gs>
              <a:gs pos="72000">
                <a:srgbClr val="000000">
                  <a:alpha val="31764"/>
                </a:srgbClr>
              </a:gs>
              <a:gs pos="100000">
                <a:srgbClr val="000000">
                  <a:alpha val="31764"/>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grpSp>
        <p:nvGrpSpPr>
          <p:cNvPr id="213" name="Google Shape;213;p6"/>
          <p:cNvGrpSpPr/>
          <p:nvPr/>
        </p:nvGrpSpPr>
        <p:grpSpPr>
          <a:xfrm>
            <a:off x="718131" y="5868884"/>
            <a:ext cx="11102042" cy="454257"/>
            <a:chOff x="508288" y="5715000"/>
            <a:chExt cx="11173968" cy="457200"/>
          </a:xfrm>
        </p:grpSpPr>
        <p:sp>
          <p:nvSpPr>
            <p:cNvPr id="214" name="Google Shape;214;p6"/>
            <p:cNvSpPr/>
            <p:nvPr/>
          </p:nvSpPr>
          <p:spPr>
            <a:xfrm>
              <a:off x="508288" y="5715000"/>
              <a:ext cx="11173968" cy="457200"/>
            </a:xfrm>
            <a:prstGeom prst="roundRect">
              <a:avLst>
                <a:gd name="adj" fmla="val 50000"/>
              </a:avLst>
            </a:prstGeom>
            <a:solidFill>
              <a:srgbClr val="181717">
                <a:alpha val="7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15" name="Google Shape;215;p6"/>
            <p:cNvCxnSpPr/>
            <p:nvPr/>
          </p:nvCxnSpPr>
          <p:spPr>
            <a:xfrm>
              <a:off x="1447800" y="5943600"/>
              <a:ext cx="9124950" cy="0"/>
            </a:xfrm>
            <a:prstGeom prst="straightConnector1">
              <a:avLst/>
            </a:prstGeom>
            <a:noFill/>
            <a:ln w="47625" cap="flat" cmpd="sng">
              <a:solidFill>
                <a:schemeClr val="lt1"/>
              </a:solidFill>
              <a:prstDash val="solid"/>
              <a:miter lim="800000"/>
              <a:headEnd type="none" w="sm" len="sm"/>
              <a:tailEnd type="none" w="sm" len="sm"/>
            </a:ln>
          </p:spPr>
        </p:cxnSp>
        <p:cxnSp>
          <p:nvCxnSpPr>
            <p:cNvPr id="216" name="Google Shape;216;p6"/>
            <p:cNvCxnSpPr/>
            <p:nvPr/>
          </p:nvCxnSpPr>
          <p:spPr>
            <a:xfrm>
              <a:off x="1447800" y="5943601"/>
              <a:ext cx="2840719" cy="0"/>
            </a:xfrm>
            <a:prstGeom prst="straightConnector1">
              <a:avLst/>
            </a:prstGeom>
            <a:noFill/>
            <a:ln w="47625" cap="flat" cmpd="sng">
              <a:solidFill>
                <a:srgbClr val="A80000"/>
              </a:solidFill>
              <a:prstDash val="solid"/>
              <a:miter lim="800000"/>
              <a:headEnd type="none" w="sm" len="sm"/>
              <a:tailEnd type="none" w="sm" len="sm"/>
            </a:ln>
          </p:spPr>
        </p:cxnSp>
        <p:sp>
          <p:nvSpPr>
            <p:cNvPr id="217" name="Google Shape;217;p6"/>
            <p:cNvSpPr/>
            <p:nvPr/>
          </p:nvSpPr>
          <p:spPr>
            <a:xfrm>
              <a:off x="4212313" y="5856732"/>
              <a:ext cx="173736" cy="17373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18" name="Google Shape;218;p6"/>
            <p:cNvGrpSpPr/>
            <p:nvPr/>
          </p:nvGrpSpPr>
          <p:grpSpPr>
            <a:xfrm>
              <a:off x="770654" y="5846189"/>
              <a:ext cx="138260" cy="194821"/>
              <a:chOff x="1058944" y="5338713"/>
              <a:chExt cx="138260" cy="194821"/>
            </a:xfrm>
          </p:grpSpPr>
          <p:sp>
            <p:nvSpPr>
              <p:cNvPr id="219" name="Google Shape;219;p6"/>
              <p:cNvSpPr/>
              <p:nvPr/>
            </p:nvSpPr>
            <p:spPr>
              <a:xfrm>
                <a:off x="1058944" y="5338713"/>
                <a:ext cx="50277" cy="1948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6"/>
              <p:cNvSpPr/>
              <p:nvPr/>
            </p:nvSpPr>
            <p:spPr>
              <a:xfrm>
                <a:off x="1146927" y="5338713"/>
                <a:ext cx="50277" cy="1948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21" name="Google Shape;221;p6"/>
            <p:cNvGrpSpPr/>
            <p:nvPr/>
          </p:nvGrpSpPr>
          <p:grpSpPr>
            <a:xfrm>
              <a:off x="1043544" y="5797389"/>
              <a:ext cx="287258" cy="277339"/>
              <a:chOff x="1043544" y="5797389"/>
              <a:chExt cx="287258" cy="277339"/>
            </a:xfrm>
          </p:grpSpPr>
          <p:grpSp>
            <p:nvGrpSpPr>
              <p:cNvPr id="222" name="Google Shape;222;p6"/>
              <p:cNvGrpSpPr/>
              <p:nvPr/>
            </p:nvGrpSpPr>
            <p:grpSpPr>
              <a:xfrm>
                <a:off x="1059724" y="5797389"/>
                <a:ext cx="237266" cy="277339"/>
                <a:chOff x="1059724" y="5797389"/>
                <a:chExt cx="237266" cy="277339"/>
              </a:xfrm>
            </p:grpSpPr>
            <p:sp>
              <p:nvSpPr>
                <p:cNvPr id="223" name="Google Shape;223;p6"/>
                <p:cNvSpPr/>
                <p:nvPr/>
              </p:nvSpPr>
              <p:spPr>
                <a:xfrm>
                  <a:off x="1078994" y="5856732"/>
                  <a:ext cx="217996" cy="217996"/>
                </a:xfrm>
                <a:prstGeom prst="ellipse">
                  <a:avLst/>
                </a:prstGeom>
                <a:no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24" name="Google Shape;224;p6"/>
                <p:cNvGrpSpPr/>
                <p:nvPr/>
              </p:nvGrpSpPr>
              <p:grpSpPr>
                <a:xfrm>
                  <a:off x="1059724" y="5797389"/>
                  <a:ext cx="118633" cy="213866"/>
                  <a:chOff x="1059724" y="5797389"/>
                  <a:chExt cx="118633" cy="213866"/>
                </a:xfrm>
              </p:grpSpPr>
              <p:sp>
                <p:nvSpPr>
                  <p:cNvPr id="225" name="Google Shape;225;p6"/>
                  <p:cNvSpPr/>
                  <p:nvPr/>
                </p:nvSpPr>
                <p:spPr>
                  <a:xfrm>
                    <a:off x="1059724" y="5904322"/>
                    <a:ext cx="107253" cy="106933"/>
                  </a:xfrm>
                  <a:prstGeom prst="rect">
                    <a:avLst/>
                  </a:prstGeom>
                  <a:solidFill>
                    <a:srgbClr val="1817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6"/>
                  <p:cNvSpPr/>
                  <p:nvPr/>
                </p:nvSpPr>
                <p:spPr>
                  <a:xfrm>
                    <a:off x="1071104" y="5797389"/>
                    <a:ext cx="107253" cy="106933"/>
                  </a:xfrm>
                  <a:prstGeom prst="rect">
                    <a:avLst/>
                  </a:prstGeom>
                  <a:solidFill>
                    <a:srgbClr val="1817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27" name="Google Shape;227;p6"/>
                <p:cNvSpPr/>
                <p:nvPr/>
              </p:nvSpPr>
              <p:spPr>
                <a:xfrm rot="-5400000">
                  <a:off x="1085873" y="5811157"/>
                  <a:ext cx="98694" cy="95874"/>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28" name="Google Shape;228;p6"/>
              <p:cNvSpPr txBox="1"/>
              <p:nvPr/>
            </p:nvSpPr>
            <p:spPr>
              <a:xfrm>
                <a:off x="1043544" y="5856732"/>
                <a:ext cx="28725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800" b="1">
                    <a:solidFill>
                      <a:schemeClr val="lt1"/>
                    </a:solidFill>
                    <a:latin typeface="Calibri"/>
                    <a:ea typeface="Calibri"/>
                    <a:cs typeface="Calibri"/>
                    <a:sym typeface="Calibri"/>
                  </a:rPr>
                  <a:t>10</a:t>
                </a:r>
                <a:endParaRPr/>
              </a:p>
            </p:txBody>
          </p:sp>
        </p:grpSp>
      </p:grpSp>
      <p:sp>
        <p:nvSpPr>
          <p:cNvPr id="229" name="Google Shape;229;p6"/>
          <p:cNvSpPr txBox="1"/>
          <p:nvPr/>
        </p:nvSpPr>
        <p:spPr>
          <a:xfrm>
            <a:off x="10756587" y="5919610"/>
            <a:ext cx="1005840" cy="38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Lato Light"/>
                <a:ea typeface="Lato Light"/>
                <a:cs typeface="Lato Light"/>
                <a:sym typeface="Lato Light"/>
              </a:rPr>
              <a:t>20 : 00</a:t>
            </a:r>
            <a:endParaRPr/>
          </a:p>
        </p:txBody>
      </p:sp>
      <p:grpSp>
        <p:nvGrpSpPr>
          <p:cNvPr id="230" name="Google Shape;230;p6"/>
          <p:cNvGrpSpPr/>
          <p:nvPr/>
        </p:nvGrpSpPr>
        <p:grpSpPr>
          <a:xfrm>
            <a:off x="2347864" y="1431108"/>
            <a:ext cx="481172" cy="156459"/>
            <a:chOff x="10780016" y="1207681"/>
            <a:chExt cx="742064" cy="241291"/>
          </a:xfrm>
        </p:grpSpPr>
        <p:sp>
          <p:nvSpPr>
            <p:cNvPr id="231" name="Google Shape;231;p6"/>
            <p:cNvSpPr/>
            <p:nvPr/>
          </p:nvSpPr>
          <p:spPr>
            <a:xfrm>
              <a:off x="10780016" y="1228782"/>
              <a:ext cx="268058" cy="220190"/>
            </a:xfrm>
            <a:prstGeom prst="hear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6"/>
            <p:cNvSpPr/>
            <p:nvPr/>
          </p:nvSpPr>
          <p:spPr>
            <a:xfrm>
              <a:off x="11280789" y="1207681"/>
              <a:ext cx="241291" cy="241291"/>
            </a:xfrm>
            <a:prstGeom prst="plus">
              <a:avLst>
                <a:gd name="adj" fmla="val 37308"/>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33" name="Google Shape;233;p6"/>
          <p:cNvSpPr txBox="1"/>
          <p:nvPr/>
        </p:nvSpPr>
        <p:spPr>
          <a:xfrm>
            <a:off x="521104" y="990844"/>
            <a:ext cx="220765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b="1" dirty="0">
                <a:solidFill>
                  <a:schemeClr val="lt1"/>
                </a:solidFill>
                <a:latin typeface="Century Gothic"/>
                <a:ea typeface="Century Gothic"/>
                <a:cs typeface="Century Gothic"/>
                <a:sym typeface="Century Gothic"/>
              </a:rPr>
              <a:t>CAPÍTULO 1</a:t>
            </a:r>
            <a:endParaRPr sz="2000" b="1" dirty="0">
              <a:solidFill>
                <a:schemeClr val="lt1"/>
              </a:solidFill>
              <a:latin typeface="Century Gothic"/>
              <a:ea typeface="Century Gothic"/>
              <a:cs typeface="Century Gothic"/>
              <a:sym typeface="Century Gothic"/>
            </a:endParaRPr>
          </a:p>
        </p:txBody>
      </p:sp>
      <p:sp>
        <p:nvSpPr>
          <p:cNvPr id="234" name="Google Shape;234;p6"/>
          <p:cNvSpPr txBox="1"/>
          <p:nvPr/>
        </p:nvSpPr>
        <p:spPr>
          <a:xfrm>
            <a:off x="521104" y="1340061"/>
            <a:ext cx="182934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600" dirty="0" err="1">
                <a:solidFill>
                  <a:schemeClr val="lt1"/>
                </a:solidFill>
                <a:latin typeface="Calibri"/>
                <a:ea typeface="Calibri"/>
                <a:cs typeface="Calibri"/>
                <a:sym typeface="Calibri"/>
              </a:rPr>
              <a:t>Season</a:t>
            </a:r>
            <a:r>
              <a:rPr lang="pt-BR" sz="1600" dirty="0">
                <a:solidFill>
                  <a:schemeClr val="lt1"/>
                </a:solidFill>
                <a:latin typeface="Calibri"/>
                <a:ea typeface="Calibri"/>
                <a:cs typeface="Calibri"/>
                <a:sym typeface="Calibri"/>
              </a:rPr>
              <a:t> 1: </a:t>
            </a:r>
            <a:r>
              <a:rPr lang="pt-BR" sz="1600" dirty="0" err="1">
                <a:solidFill>
                  <a:schemeClr val="lt1"/>
                </a:solidFill>
                <a:latin typeface="Calibri"/>
                <a:ea typeface="Calibri"/>
                <a:cs typeface="Calibri"/>
                <a:sym typeface="Calibri"/>
              </a:rPr>
              <a:t>Episode</a:t>
            </a:r>
            <a:r>
              <a:rPr lang="pt-BR" sz="1600" dirty="0">
                <a:solidFill>
                  <a:schemeClr val="lt1"/>
                </a:solidFill>
                <a:latin typeface="Calibri"/>
                <a:ea typeface="Calibri"/>
                <a:cs typeface="Calibri"/>
                <a:sym typeface="Calibri"/>
              </a:rPr>
              <a:t> 1</a:t>
            </a:r>
            <a:endParaRPr dirty="0"/>
          </a:p>
        </p:txBody>
      </p:sp>
      <p:pic>
        <p:nvPicPr>
          <p:cNvPr id="235" name="Google Shape;235;p6" descr="Uma imagem contendo objeto, relógio, laranja, trem&#10;&#10;Descrição gerada automaticamente"/>
          <p:cNvPicPr preferRelativeResize="0"/>
          <p:nvPr/>
        </p:nvPicPr>
        <p:blipFill rotWithShape="1">
          <a:blip r:embed="rId4">
            <a:alphaModFix/>
          </a:blip>
          <a:srcRect/>
          <a:stretch/>
        </p:blipFill>
        <p:spPr>
          <a:xfrm>
            <a:off x="413645" y="128016"/>
            <a:ext cx="1864519" cy="633110"/>
          </a:xfrm>
          <a:prstGeom prst="rect">
            <a:avLst/>
          </a:prstGeom>
          <a:noFill/>
          <a:ln>
            <a:noFill/>
          </a:ln>
        </p:spPr>
      </p:pic>
      <p:sp>
        <p:nvSpPr>
          <p:cNvPr id="236" name="Google Shape;236;p6"/>
          <p:cNvSpPr txBox="1"/>
          <p:nvPr/>
        </p:nvSpPr>
        <p:spPr>
          <a:xfrm>
            <a:off x="2487371" y="301443"/>
            <a:ext cx="69865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Início     Filmes     Séries     Minha Lista </a:t>
            </a:r>
            <a:endParaRPr/>
          </a:p>
        </p:txBody>
      </p:sp>
      <p:pic>
        <p:nvPicPr>
          <p:cNvPr id="237" name="Google Shape;237;p6" descr="Ícone&#10;&#10;Descrição gerada automaticamente"/>
          <p:cNvPicPr preferRelativeResize="0"/>
          <p:nvPr/>
        </p:nvPicPr>
        <p:blipFill rotWithShape="1">
          <a:blip r:embed="rId5">
            <a:alphaModFix/>
          </a:blip>
          <a:srcRect/>
          <a:stretch/>
        </p:blipFill>
        <p:spPr>
          <a:xfrm>
            <a:off x="9880255" y="331280"/>
            <a:ext cx="459581" cy="459581"/>
          </a:xfrm>
          <a:prstGeom prst="rect">
            <a:avLst/>
          </a:prstGeom>
          <a:noFill/>
          <a:ln>
            <a:noFill/>
          </a:ln>
        </p:spPr>
      </p:pic>
      <p:sp>
        <p:nvSpPr>
          <p:cNvPr id="238" name="Google Shape;238;p6"/>
          <p:cNvSpPr txBox="1"/>
          <p:nvPr/>
        </p:nvSpPr>
        <p:spPr>
          <a:xfrm>
            <a:off x="8791566" y="331280"/>
            <a:ext cx="12666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Pesquisar</a:t>
            </a:r>
            <a:r>
              <a:rPr lang="pt-BR" sz="1800">
                <a:solidFill>
                  <a:schemeClr val="lt1"/>
                </a:solidFill>
                <a:latin typeface="Lato Light"/>
                <a:ea typeface="Lato Light"/>
                <a:cs typeface="Lato Light"/>
                <a:sym typeface="Lato Light"/>
              </a:rPr>
              <a:t> </a:t>
            </a:r>
            <a:endParaRPr/>
          </a:p>
        </p:txBody>
      </p:sp>
      <p:grpSp>
        <p:nvGrpSpPr>
          <p:cNvPr id="239" name="Google Shape;239;p6"/>
          <p:cNvGrpSpPr/>
          <p:nvPr/>
        </p:nvGrpSpPr>
        <p:grpSpPr>
          <a:xfrm>
            <a:off x="10120329" y="273308"/>
            <a:ext cx="1693635" cy="369332"/>
            <a:chOff x="9828445" y="385086"/>
            <a:chExt cx="1693635" cy="369332"/>
          </a:xfrm>
        </p:grpSpPr>
        <p:sp>
          <p:nvSpPr>
            <p:cNvPr id="240" name="Google Shape;240;p6"/>
            <p:cNvSpPr txBox="1"/>
            <p:nvPr/>
          </p:nvSpPr>
          <p:spPr>
            <a:xfrm>
              <a:off x="9828445" y="385086"/>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p6"/>
            <p:cNvSpPr/>
            <p:nvPr/>
          </p:nvSpPr>
          <p:spPr>
            <a:xfrm rot="10800000" flipH="1">
              <a:off x="11351815" y="535451"/>
              <a:ext cx="170265" cy="14677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242" name="Google Shape;242;p6" descr="Desenho de personagem de desenho animado&#10;&#10;Descrição gerada automaticamente com confiança média"/>
          <p:cNvPicPr preferRelativeResize="0"/>
          <p:nvPr/>
        </p:nvPicPr>
        <p:blipFill rotWithShape="1">
          <a:blip r:embed="rId6">
            <a:alphaModFix/>
          </a:blip>
          <a:srcRect/>
          <a:stretch/>
        </p:blipFill>
        <p:spPr>
          <a:xfrm>
            <a:off x="11185062" y="326916"/>
            <a:ext cx="300935" cy="305234"/>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43" name="Google Shape;243;p6"/>
          <p:cNvSpPr/>
          <p:nvPr/>
        </p:nvSpPr>
        <p:spPr>
          <a:xfrm>
            <a:off x="521104" y="1781705"/>
            <a:ext cx="10443601" cy="267761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pt-BR" dirty="0">
                <a:solidFill>
                  <a:schemeClr val="bg1"/>
                </a:solidFill>
                <a:latin typeface="Century Gothic" panose="020B0502020202020204" pitchFamily="34" charset="0"/>
              </a:rPr>
              <a:t>Essa função é um dos fatores de sucesso da Netflix, mas não é algo fácil de implementar. O segredo é a ciência de dados. A Netflix utiliza </a:t>
            </a:r>
            <a:r>
              <a:rPr lang="pt-BR" b="1" dirty="0" err="1">
                <a:solidFill>
                  <a:schemeClr val="bg1"/>
                </a:solidFill>
                <a:latin typeface="Century Gothic" panose="020B0502020202020204" pitchFamily="34" charset="0"/>
              </a:rPr>
              <a:t>Machine</a:t>
            </a:r>
            <a:r>
              <a:rPr lang="pt-BR" b="1" dirty="0">
                <a:solidFill>
                  <a:schemeClr val="bg1"/>
                </a:solidFill>
                <a:latin typeface="Century Gothic" panose="020B0502020202020204" pitchFamily="34" charset="0"/>
              </a:rPr>
              <a:t> Learning</a:t>
            </a:r>
            <a:r>
              <a:rPr lang="pt-BR" dirty="0">
                <a:solidFill>
                  <a:schemeClr val="bg1"/>
                </a:solidFill>
                <a:latin typeface="Century Gothic" panose="020B0502020202020204" pitchFamily="34" charset="0"/>
              </a:rPr>
              <a:t> para fragmentar as intenções pré-concebidas dos assinantes e, assim, procurar por conteúdo que estava fora do radar. As “previsões” da Netflix são respaldadas em tópicos diferenciados no conteúdo em vez de se basear em categoria mais amplas. A Netflix, afirma que, devido a grande quantidade de conteúdo disponível na plataforma, havia uma preocupação na maneira de como ajudar os assinantes a encontrar conteúdo para mantê-los no serviço. Criou-se então a NRE (mecanismo de recomendação da Netflix)</a:t>
            </a:r>
          </a:p>
          <a:p>
            <a:pPr marL="0" marR="0" lvl="0" indent="0" algn="just" rtl="0">
              <a:spcBef>
                <a:spcPts val="0"/>
              </a:spcBef>
              <a:spcAft>
                <a:spcPts val="0"/>
              </a:spcAft>
              <a:buNone/>
            </a:pPr>
            <a:endParaRPr lang="pt-BR" dirty="0">
              <a:solidFill>
                <a:schemeClr val="bg1"/>
              </a:solidFill>
              <a:latin typeface="Century Gothic" panose="020B0502020202020204" pitchFamily="34" charset="0"/>
            </a:endParaRPr>
          </a:p>
          <a:p>
            <a:pPr algn="l"/>
            <a:r>
              <a:rPr lang="pt-BR" b="0" i="0" dirty="0">
                <a:solidFill>
                  <a:srgbClr val="F7F7F7"/>
                </a:solidFill>
                <a:effectLst/>
                <a:latin typeface="Century Gothic" panose="020B0502020202020204" pitchFamily="34" charset="0"/>
              </a:rPr>
              <a:t>Também existem outros fatores que a Netflix também leva em conta:</a:t>
            </a:r>
          </a:p>
          <a:p>
            <a:pPr marL="285750" indent="-285750" algn="l">
              <a:buFont typeface="Arial" panose="020B0604020202020204" pitchFamily="34" charset="0"/>
              <a:buChar char="•"/>
            </a:pPr>
            <a:r>
              <a:rPr lang="pt-BR" b="0" i="0" dirty="0">
                <a:solidFill>
                  <a:schemeClr val="bg1"/>
                </a:solidFill>
                <a:effectLst/>
                <a:latin typeface="Century Gothic" panose="020B0502020202020204" pitchFamily="34" charset="0"/>
              </a:rPr>
              <a:t>Os horários em que o usuário mais usa o serviço;</a:t>
            </a:r>
          </a:p>
          <a:p>
            <a:pPr marL="285750" indent="-285750" algn="l">
              <a:buFont typeface="Arial" panose="020B0604020202020204" pitchFamily="34" charset="0"/>
              <a:buChar char="•"/>
            </a:pPr>
            <a:r>
              <a:rPr lang="pt-BR" b="0" i="0" dirty="0">
                <a:solidFill>
                  <a:schemeClr val="bg1"/>
                </a:solidFill>
                <a:effectLst/>
                <a:latin typeface="Century Gothic" panose="020B0502020202020204" pitchFamily="34" charset="0"/>
              </a:rPr>
              <a:t>Por quais dispositivos ele mais acessa;</a:t>
            </a:r>
          </a:p>
          <a:p>
            <a:pPr marL="285750" indent="-285750" algn="l">
              <a:buFont typeface="Arial" panose="020B0604020202020204" pitchFamily="34" charset="0"/>
              <a:buChar char="•"/>
            </a:pPr>
            <a:r>
              <a:rPr lang="pt-BR" b="0" i="0" dirty="0">
                <a:solidFill>
                  <a:schemeClr val="bg1"/>
                </a:solidFill>
                <a:effectLst/>
                <a:latin typeface="Century Gothic" panose="020B0502020202020204" pitchFamily="34" charset="0"/>
              </a:rPr>
              <a:t>Qual é o tempo médio que ele dedica à Netflix.</a:t>
            </a:r>
          </a:p>
          <a:p>
            <a:pPr marL="0" marR="0" lvl="0" indent="0" algn="just" rtl="0">
              <a:spcBef>
                <a:spcPts val="0"/>
              </a:spcBef>
              <a:spcAft>
                <a:spcPts val="0"/>
              </a:spcAft>
              <a:buNone/>
            </a:pPr>
            <a:endParaRPr lang="pt-BR" dirty="0">
              <a:solidFill>
                <a:schemeClr val="bg1"/>
              </a:solidFill>
              <a:latin typeface="Century Gothic" panose="020B0502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4" name="Imagem 3">
            <a:extLst>
              <a:ext uri="{FF2B5EF4-FFF2-40B4-BE49-F238E27FC236}">
                <a16:creationId xmlns:a16="http://schemas.microsoft.com/office/drawing/2014/main" id="{209DBB82-05AA-DFCA-3DF3-EF29FFE29737}"/>
              </a:ext>
            </a:extLst>
          </p:cNvPr>
          <p:cNvPicPr>
            <a:picLocks noChangeAspect="1"/>
          </p:cNvPicPr>
          <p:nvPr/>
        </p:nvPicPr>
        <p:blipFill>
          <a:blip r:embed="rId3"/>
          <a:stretch>
            <a:fillRect/>
          </a:stretch>
        </p:blipFill>
        <p:spPr>
          <a:xfrm>
            <a:off x="0" y="0"/>
            <a:ext cx="12192000" cy="6858000"/>
          </a:xfrm>
          <a:prstGeom prst="rect">
            <a:avLst/>
          </a:prstGeom>
        </p:spPr>
      </p:pic>
      <p:sp>
        <p:nvSpPr>
          <p:cNvPr id="212" name="Google Shape;212;p6"/>
          <p:cNvSpPr/>
          <p:nvPr/>
        </p:nvSpPr>
        <p:spPr>
          <a:xfrm>
            <a:off x="35998" y="17610"/>
            <a:ext cx="12192000" cy="6858000"/>
          </a:xfrm>
          <a:prstGeom prst="rect">
            <a:avLst/>
          </a:prstGeom>
          <a:gradFill>
            <a:gsLst>
              <a:gs pos="0">
                <a:schemeClr val="dk1"/>
              </a:gs>
              <a:gs pos="9000">
                <a:srgbClr val="000000"/>
              </a:gs>
              <a:gs pos="72000">
                <a:srgbClr val="000000">
                  <a:alpha val="31764"/>
                </a:srgbClr>
              </a:gs>
              <a:gs pos="100000">
                <a:srgbClr val="000000">
                  <a:alpha val="31764"/>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13" name="Google Shape;213;p6"/>
          <p:cNvGrpSpPr/>
          <p:nvPr/>
        </p:nvGrpSpPr>
        <p:grpSpPr>
          <a:xfrm>
            <a:off x="718131" y="5868884"/>
            <a:ext cx="11102042" cy="454257"/>
            <a:chOff x="508288" y="5715000"/>
            <a:chExt cx="11173968" cy="457200"/>
          </a:xfrm>
        </p:grpSpPr>
        <p:sp>
          <p:nvSpPr>
            <p:cNvPr id="214" name="Google Shape;214;p6"/>
            <p:cNvSpPr/>
            <p:nvPr/>
          </p:nvSpPr>
          <p:spPr>
            <a:xfrm>
              <a:off x="508288" y="5715000"/>
              <a:ext cx="11173968" cy="457200"/>
            </a:xfrm>
            <a:prstGeom prst="roundRect">
              <a:avLst>
                <a:gd name="adj" fmla="val 50000"/>
              </a:avLst>
            </a:prstGeom>
            <a:solidFill>
              <a:srgbClr val="181717">
                <a:alpha val="7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15" name="Google Shape;215;p6"/>
            <p:cNvCxnSpPr/>
            <p:nvPr/>
          </p:nvCxnSpPr>
          <p:spPr>
            <a:xfrm>
              <a:off x="1447800" y="5943600"/>
              <a:ext cx="9124950" cy="0"/>
            </a:xfrm>
            <a:prstGeom prst="straightConnector1">
              <a:avLst/>
            </a:prstGeom>
            <a:noFill/>
            <a:ln w="47625" cap="flat" cmpd="sng">
              <a:solidFill>
                <a:schemeClr val="lt1"/>
              </a:solidFill>
              <a:prstDash val="solid"/>
              <a:miter lim="800000"/>
              <a:headEnd type="none" w="sm" len="sm"/>
              <a:tailEnd type="none" w="sm" len="sm"/>
            </a:ln>
          </p:spPr>
        </p:cxnSp>
        <p:cxnSp>
          <p:nvCxnSpPr>
            <p:cNvPr id="216" name="Google Shape;216;p6"/>
            <p:cNvCxnSpPr/>
            <p:nvPr/>
          </p:nvCxnSpPr>
          <p:spPr>
            <a:xfrm>
              <a:off x="1447800" y="5943601"/>
              <a:ext cx="2840719" cy="0"/>
            </a:xfrm>
            <a:prstGeom prst="straightConnector1">
              <a:avLst/>
            </a:prstGeom>
            <a:noFill/>
            <a:ln w="47625" cap="flat" cmpd="sng">
              <a:solidFill>
                <a:srgbClr val="A80000"/>
              </a:solidFill>
              <a:prstDash val="solid"/>
              <a:miter lim="800000"/>
              <a:headEnd type="none" w="sm" len="sm"/>
              <a:tailEnd type="none" w="sm" len="sm"/>
            </a:ln>
          </p:spPr>
        </p:cxnSp>
        <p:sp>
          <p:nvSpPr>
            <p:cNvPr id="217" name="Google Shape;217;p6"/>
            <p:cNvSpPr/>
            <p:nvPr/>
          </p:nvSpPr>
          <p:spPr>
            <a:xfrm>
              <a:off x="4212313" y="5856732"/>
              <a:ext cx="173736" cy="17373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18" name="Google Shape;218;p6"/>
            <p:cNvGrpSpPr/>
            <p:nvPr/>
          </p:nvGrpSpPr>
          <p:grpSpPr>
            <a:xfrm>
              <a:off x="770654" y="5846189"/>
              <a:ext cx="138260" cy="194821"/>
              <a:chOff x="1058944" y="5338713"/>
              <a:chExt cx="138260" cy="194821"/>
            </a:xfrm>
          </p:grpSpPr>
          <p:sp>
            <p:nvSpPr>
              <p:cNvPr id="219" name="Google Shape;219;p6"/>
              <p:cNvSpPr/>
              <p:nvPr/>
            </p:nvSpPr>
            <p:spPr>
              <a:xfrm>
                <a:off x="1058944" y="5338713"/>
                <a:ext cx="50277" cy="1948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6"/>
              <p:cNvSpPr/>
              <p:nvPr/>
            </p:nvSpPr>
            <p:spPr>
              <a:xfrm>
                <a:off x="1146927" y="5338713"/>
                <a:ext cx="50277" cy="1948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21" name="Google Shape;221;p6"/>
            <p:cNvGrpSpPr/>
            <p:nvPr/>
          </p:nvGrpSpPr>
          <p:grpSpPr>
            <a:xfrm>
              <a:off x="1043544" y="5797389"/>
              <a:ext cx="287258" cy="277339"/>
              <a:chOff x="1043544" y="5797389"/>
              <a:chExt cx="287258" cy="277339"/>
            </a:xfrm>
          </p:grpSpPr>
          <p:grpSp>
            <p:nvGrpSpPr>
              <p:cNvPr id="222" name="Google Shape;222;p6"/>
              <p:cNvGrpSpPr/>
              <p:nvPr/>
            </p:nvGrpSpPr>
            <p:grpSpPr>
              <a:xfrm>
                <a:off x="1059724" y="5797389"/>
                <a:ext cx="237266" cy="277339"/>
                <a:chOff x="1059724" y="5797389"/>
                <a:chExt cx="237266" cy="277339"/>
              </a:xfrm>
            </p:grpSpPr>
            <p:sp>
              <p:nvSpPr>
                <p:cNvPr id="223" name="Google Shape;223;p6"/>
                <p:cNvSpPr/>
                <p:nvPr/>
              </p:nvSpPr>
              <p:spPr>
                <a:xfrm>
                  <a:off x="1078994" y="5856732"/>
                  <a:ext cx="217996" cy="217996"/>
                </a:xfrm>
                <a:prstGeom prst="ellipse">
                  <a:avLst/>
                </a:prstGeom>
                <a:no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24" name="Google Shape;224;p6"/>
                <p:cNvGrpSpPr/>
                <p:nvPr/>
              </p:nvGrpSpPr>
              <p:grpSpPr>
                <a:xfrm>
                  <a:off x="1059724" y="5797389"/>
                  <a:ext cx="118633" cy="213866"/>
                  <a:chOff x="1059724" y="5797389"/>
                  <a:chExt cx="118633" cy="213866"/>
                </a:xfrm>
              </p:grpSpPr>
              <p:sp>
                <p:nvSpPr>
                  <p:cNvPr id="225" name="Google Shape;225;p6"/>
                  <p:cNvSpPr/>
                  <p:nvPr/>
                </p:nvSpPr>
                <p:spPr>
                  <a:xfrm>
                    <a:off x="1059724" y="5904322"/>
                    <a:ext cx="107253" cy="106933"/>
                  </a:xfrm>
                  <a:prstGeom prst="rect">
                    <a:avLst/>
                  </a:prstGeom>
                  <a:solidFill>
                    <a:srgbClr val="1817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6"/>
                  <p:cNvSpPr/>
                  <p:nvPr/>
                </p:nvSpPr>
                <p:spPr>
                  <a:xfrm>
                    <a:off x="1071104" y="5797389"/>
                    <a:ext cx="107253" cy="106933"/>
                  </a:xfrm>
                  <a:prstGeom prst="rect">
                    <a:avLst/>
                  </a:prstGeom>
                  <a:solidFill>
                    <a:srgbClr val="1817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27" name="Google Shape;227;p6"/>
                <p:cNvSpPr/>
                <p:nvPr/>
              </p:nvSpPr>
              <p:spPr>
                <a:xfrm rot="-5400000">
                  <a:off x="1085873" y="5811157"/>
                  <a:ext cx="98694" cy="95874"/>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28" name="Google Shape;228;p6"/>
              <p:cNvSpPr txBox="1"/>
              <p:nvPr/>
            </p:nvSpPr>
            <p:spPr>
              <a:xfrm>
                <a:off x="1043544" y="5856732"/>
                <a:ext cx="28725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800" b="1">
                    <a:solidFill>
                      <a:schemeClr val="lt1"/>
                    </a:solidFill>
                    <a:latin typeface="Calibri"/>
                    <a:ea typeface="Calibri"/>
                    <a:cs typeface="Calibri"/>
                    <a:sym typeface="Calibri"/>
                  </a:rPr>
                  <a:t>10</a:t>
                </a:r>
                <a:endParaRPr/>
              </a:p>
            </p:txBody>
          </p:sp>
        </p:grpSp>
      </p:grpSp>
      <p:sp>
        <p:nvSpPr>
          <p:cNvPr id="229" name="Google Shape;229;p6"/>
          <p:cNvSpPr txBox="1"/>
          <p:nvPr/>
        </p:nvSpPr>
        <p:spPr>
          <a:xfrm>
            <a:off x="10756587" y="5919610"/>
            <a:ext cx="1005840" cy="38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Lato Light"/>
                <a:ea typeface="Lato Light"/>
                <a:cs typeface="Lato Light"/>
                <a:sym typeface="Lato Light"/>
              </a:rPr>
              <a:t>20 : 00</a:t>
            </a:r>
            <a:endParaRPr/>
          </a:p>
        </p:txBody>
      </p:sp>
      <p:grpSp>
        <p:nvGrpSpPr>
          <p:cNvPr id="230" name="Google Shape;230;p6"/>
          <p:cNvGrpSpPr/>
          <p:nvPr/>
        </p:nvGrpSpPr>
        <p:grpSpPr>
          <a:xfrm>
            <a:off x="2347864" y="1431108"/>
            <a:ext cx="481172" cy="156459"/>
            <a:chOff x="10780016" y="1207681"/>
            <a:chExt cx="742064" cy="241291"/>
          </a:xfrm>
        </p:grpSpPr>
        <p:sp>
          <p:nvSpPr>
            <p:cNvPr id="231" name="Google Shape;231;p6"/>
            <p:cNvSpPr/>
            <p:nvPr/>
          </p:nvSpPr>
          <p:spPr>
            <a:xfrm>
              <a:off x="10780016" y="1228782"/>
              <a:ext cx="268058" cy="220190"/>
            </a:xfrm>
            <a:prstGeom prst="hear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6"/>
            <p:cNvSpPr/>
            <p:nvPr/>
          </p:nvSpPr>
          <p:spPr>
            <a:xfrm>
              <a:off x="11280789" y="1207681"/>
              <a:ext cx="241291" cy="241291"/>
            </a:xfrm>
            <a:prstGeom prst="plus">
              <a:avLst>
                <a:gd name="adj" fmla="val 37308"/>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33" name="Google Shape;233;p6"/>
          <p:cNvSpPr txBox="1"/>
          <p:nvPr/>
        </p:nvSpPr>
        <p:spPr>
          <a:xfrm>
            <a:off x="521104" y="990844"/>
            <a:ext cx="220765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b="1" dirty="0">
                <a:solidFill>
                  <a:schemeClr val="lt1"/>
                </a:solidFill>
                <a:latin typeface="Century Gothic"/>
                <a:ea typeface="Century Gothic"/>
                <a:cs typeface="Century Gothic"/>
                <a:sym typeface="Century Gothic"/>
              </a:rPr>
              <a:t>CAPÍTULO 2</a:t>
            </a:r>
            <a:endParaRPr sz="2000" b="1" dirty="0">
              <a:solidFill>
                <a:schemeClr val="lt1"/>
              </a:solidFill>
              <a:latin typeface="Century Gothic"/>
              <a:ea typeface="Century Gothic"/>
              <a:cs typeface="Century Gothic"/>
              <a:sym typeface="Century Gothic"/>
            </a:endParaRPr>
          </a:p>
        </p:txBody>
      </p:sp>
      <p:sp>
        <p:nvSpPr>
          <p:cNvPr id="234" name="Google Shape;234;p6"/>
          <p:cNvSpPr txBox="1"/>
          <p:nvPr/>
        </p:nvSpPr>
        <p:spPr>
          <a:xfrm>
            <a:off x="521104" y="1340061"/>
            <a:ext cx="182934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600">
                <a:solidFill>
                  <a:schemeClr val="lt1"/>
                </a:solidFill>
                <a:latin typeface="Calibri"/>
                <a:ea typeface="Calibri"/>
                <a:cs typeface="Calibri"/>
                <a:sym typeface="Calibri"/>
              </a:rPr>
              <a:t>Season 1: Episode 2</a:t>
            </a:r>
            <a:endParaRPr/>
          </a:p>
        </p:txBody>
      </p:sp>
      <p:pic>
        <p:nvPicPr>
          <p:cNvPr id="235" name="Google Shape;235;p6" descr="Uma imagem contendo objeto, relógio, laranja, trem&#10;&#10;Descrição gerada automaticamente"/>
          <p:cNvPicPr preferRelativeResize="0"/>
          <p:nvPr/>
        </p:nvPicPr>
        <p:blipFill rotWithShape="1">
          <a:blip r:embed="rId4">
            <a:alphaModFix/>
          </a:blip>
          <a:srcRect/>
          <a:stretch/>
        </p:blipFill>
        <p:spPr>
          <a:xfrm>
            <a:off x="413645" y="128016"/>
            <a:ext cx="1864519" cy="633110"/>
          </a:xfrm>
          <a:prstGeom prst="rect">
            <a:avLst/>
          </a:prstGeom>
          <a:noFill/>
          <a:ln>
            <a:noFill/>
          </a:ln>
        </p:spPr>
      </p:pic>
      <p:sp>
        <p:nvSpPr>
          <p:cNvPr id="236" name="Google Shape;236;p6"/>
          <p:cNvSpPr txBox="1"/>
          <p:nvPr/>
        </p:nvSpPr>
        <p:spPr>
          <a:xfrm>
            <a:off x="2487371" y="301443"/>
            <a:ext cx="69865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Início     Filmes     Séries     Minha Lista </a:t>
            </a:r>
            <a:endParaRPr/>
          </a:p>
        </p:txBody>
      </p:sp>
      <p:pic>
        <p:nvPicPr>
          <p:cNvPr id="237" name="Google Shape;237;p6" descr="Ícone&#10;&#10;Descrição gerada automaticamente"/>
          <p:cNvPicPr preferRelativeResize="0"/>
          <p:nvPr/>
        </p:nvPicPr>
        <p:blipFill rotWithShape="1">
          <a:blip r:embed="rId5">
            <a:alphaModFix/>
          </a:blip>
          <a:srcRect/>
          <a:stretch/>
        </p:blipFill>
        <p:spPr>
          <a:xfrm>
            <a:off x="9880255" y="331280"/>
            <a:ext cx="459581" cy="459581"/>
          </a:xfrm>
          <a:prstGeom prst="rect">
            <a:avLst/>
          </a:prstGeom>
          <a:noFill/>
          <a:ln>
            <a:noFill/>
          </a:ln>
        </p:spPr>
      </p:pic>
      <p:sp>
        <p:nvSpPr>
          <p:cNvPr id="238" name="Google Shape;238;p6"/>
          <p:cNvSpPr txBox="1"/>
          <p:nvPr/>
        </p:nvSpPr>
        <p:spPr>
          <a:xfrm>
            <a:off x="8791566" y="331280"/>
            <a:ext cx="12666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Pesquisar</a:t>
            </a:r>
            <a:r>
              <a:rPr lang="pt-BR" sz="1800">
                <a:solidFill>
                  <a:schemeClr val="lt1"/>
                </a:solidFill>
                <a:latin typeface="Lato Light"/>
                <a:ea typeface="Lato Light"/>
                <a:cs typeface="Lato Light"/>
                <a:sym typeface="Lato Light"/>
              </a:rPr>
              <a:t> </a:t>
            </a:r>
            <a:endParaRPr/>
          </a:p>
        </p:txBody>
      </p:sp>
      <p:grpSp>
        <p:nvGrpSpPr>
          <p:cNvPr id="239" name="Google Shape;239;p6"/>
          <p:cNvGrpSpPr/>
          <p:nvPr/>
        </p:nvGrpSpPr>
        <p:grpSpPr>
          <a:xfrm>
            <a:off x="10120329" y="273308"/>
            <a:ext cx="1693635" cy="369332"/>
            <a:chOff x="9828445" y="385086"/>
            <a:chExt cx="1693635" cy="369332"/>
          </a:xfrm>
        </p:grpSpPr>
        <p:sp>
          <p:nvSpPr>
            <p:cNvPr id="240" name="Google Shape;240;p6"/>
            <p:cNvSpPr txBox="1"/>
            <p:nvPr/>
          </p:nvSpPr>
          <p:spPr>
            <a:xfrm>
              <a:off x="9828445" y="385086"/>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p6"/>
            <p:cNvSpPr/>
            <p:nvPr/>
          </p:nvSpPr>
          <p:spPr>
            <a:xfrm rot="10800000" flipH="1">
              <a:off x="11351815" y="535451"/>
              <a:ext cx="170265" cy="14677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242" name="Google Shape;242;p6" descr="Desenho de personagem de desenho animado&#10;&#10;Descrição gerada automaticamente com confiança média"/>
          <p:cNvPicPr preferRelativeResize="0"/>
          <p:nvPr/>
        </p:nvPicPr>
        <p:blipFill rotWithShape="1">
          <a:blip r:embed="rId6">
            <a:alphaModFix/>
          </a:blip>
          <a:srcRect/>
          <a:stretch/>
        </p:blipFill>
        <p:spPr>
          <a:xfrm>
            <a:off x="11185062" y="326916"/>
            <a:ext cx="300935" cy="305234"/>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43" name="Google Shape;243;p6"/>
          <p:cNvSpPr/>
          <p:nvPr/>
        </p:nvSpPr>
        <p:spPr>
          <a:xfrm>
            <a:off x="529198" y="2153751"/>
            <a:ext cx="10443601" cy="138495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pt-BR" b="0" i="0" dirty="0">
                <a:solidFill>
                  <a:schemeClr val="bg1"/>
                </a:solidFill>
                <a:effectLst/>
                <a:latin typeface="Century Gothic" panose="020B0502020202020204" pitchFamily="34" charset="0"/>
              </a:rPr>
              <a:t>Caso não esteja vendo algo a que queira assistir, basta fazer uma busca no catálogo do seu país. Quando você inserir algo na busca, os primeiros resultados que retornará terá como base as ações de outros assinantes que tenham inserido os mesmos termos ou termos similares. </a:t>
            </a:r>
            <a:r>
              <a:rPr lang="pt-BR" dirty="0">
                <a:solidFill>
                  <a:schemeClr val="bg1"/>
                </a:solidFill>
                <a:latin typeface="Century Gothic" panose="020B0502020202020204" pitchFamily="34" charset="0"/>
              </a:rPr>
              <a:t>O NRE (Netflix </a:t>
            </a:r>
            <a:r>
              <a:rPr lang="pt-BR" dirty="0" err="1">
                <a:solidFill>
                  <a:schemeClr val="bg1"/>
                </a:solidFill>
                <a:latin typeface="Century Gothic" panose="020B0502020202020204" pitchFamily="34" charset="0"/>
              </a:rPr>
              <a:t>Recommendation</a:t>
            </a:r>
            <a:r>
              <a:rPr lang="pt-BR" dirty="0">
                <a:solidFill>
                  <a:schemeClr val="bg1"/>
                </a:solidFill>
                <a:latin typeface="Century Gothic" panose="020B0502020202020204" pitchFamily="34" charset="0"/>
              </a:rPr>
              <a:t> </a:t>
            </a:r>
            <a:r>
              <a:rPr lang="pt-BR" dirty="0" err="1">
                <a:solidFill>
                  <a:schemeClr val="bg1"/>
                </a:solidFill>
                <a:latin typeface="Century Gothic" panose="020B0502020202020204" pitchFamily="34" charset="0"/>
              </a:rPr>
              <a:t>Engine</a:t>
            </a:r>
            <a:r>
              <a:rPr lang="pt-BR" dirty="0">
                <a:solidFill>
                  <a:schemeClr val="bg1"/>
                </a:solidFill>
                <a:latin typeface="Century Gothic" panose="020B0502020202020204" pitchFamily="34" charset="0"/>
              </a:rPr>
              <a:t>) é composto por múltiplos algoritmos que filtram o conteúdo com base no perfil do usuário. É uma tarefa difícil, pois o sistema filtra mais de 3 mil títulos usando mais de mil agrupamentos de recomendação, sendo todos baseados nas preferências dos usuários. De acordo com a Netflix o NRE é responsável por 80% do consumo de conteúdo da plataforma.</a:t>
            </a:r>
          </a:p>
        </p:txBody>
      </p:sp>
    </p:spTree>
    <p:extLst>
      <p:ext uri="{BB962C8B-B14F-4D97-AF65-F5344CB8AC3E}">
        <p14:creationId xmlns:p14="http://schemas.microsoft.com/office/powerpoint/2010/main" val="29713510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 name="Imagem 10">
            <a:extLst>
              <a:ext uri="{FF2B5EF4-FFF2-40B4-BE49-F238E27FC236}">
                <a16:creationId xmlns:a16="http://schemas.microsoft.com/office/drawing/2014/main" id="{3D656ACD-3578-0578-E030-39BDEC843618}"/>
              </a:ext>
            </a:extLst>
          </p:cNvPr>
          <p:cNvPicPr>
            <a:picLocks noChangeAspect="1"/>
          </p:cNvPicPr>
          <p:nvPr/>
        </p:nvPicPr>
        <p:blipFill>
          <a:blip r:embed="rId3"/>
          <a:stretch>
            <a:fillRect/>
          </a:stretch>
        </p:blipFill>
        <p:spPr>
          <a:xfrm>
            <a:off x="0" y="1"/>
            <a:ext cx="12192000" cy="5228166"/>
          </a:xfrm>
          <a:prstGeom prst="rect">
            <a:avLst/>
          </a:prstGeom>
        </p:spPr>
      </p:pic>
      <p:pic>
        <p:nvPicPr>
          <p:cNvPr id="22" name="Imagem 21">
            <a:extLst>
              <a:ext uri="{FF2B5EF4-FFF2-40B4-BE49-F238E27FC236}">
                <a16:creationId xmlns:a16="http://schemas.microsoft.com/office/drawing/2014/main" id="{29E39E45-4484-0089-8BDC-E4B47BF2E731}"/>
              </a:ext>
            </a:extLst>
          </p:cNvPr>
          <p:cNvPicPr>
            <a:picLocks noChangeAspect="1"/>
          </p:cNvPicPr>
          <p:nvPr/>
        </p:nvPicPr>
        <p:blipFill rotWithShape="1">
          <a:blip r:embed="rId4"/>
          <a:srcRect r="32902"/>
          <a:stretch/>
        </p:blipFill>
        <p:spPr>
          <a:xfrm>
            <a:off x="11259885" y="4943992"/>
            <a:ext cx="911475" cy="18983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1" name="Google Shape;111;p3"/>
          <p:cNvSpPr txBox="1"/>
          <p:nvPr/>
        </p:nvSpPr>
        <p:spPr>
          <a:xfrm>
            <a:off x="689668" y="1519696"/>
            <a:ext cx="6272493" cy="20774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3600" dirty="0" err="1">
                <a:solidFill>
                  <a:schemeClr val="lt1"/>
                </a:solidFill>
                <a:latin typeface="Century Gothic"/>
                <a:sym typeface="Century Gothic"/>
              </a:rPr>
              <a:t>IMDb</a:t>
            </a:r>
            <a:r>
              <a:rPr lang="pt-BR" sz="3600" dirty="0">
                <a:solidFill>
                  <a:schemeClr val="lt1"/>
                </a:solidFill>
                <a:latin typeface="Century Gothic"/>
                <a:sym typeface="Century Gothic"/>
              </a:rPr>
              <a:t> -</a:t>
            </a:r>
          </a:p>
          <a:p>
            <a:pPr marL="0" marR="0" lvl="0" indent="0" algn="l" rtl="0">
              <a:spcBef>
                <a:spcPts val="0"/>
              </a:spcBef>
              <a:spcAft>
                <a:spcPts val="0"/>
              </a:spcAft>
              <a:buNone/>
            </a:pPr>
            <a:r>
              <a:rPr lang="pt-BR" sz="3600" dirty="0">
                <a:solidFill>
                  <a:schemeClr val="lt1"/>
                </a:solidFill>
                <a:latin typeface="Century Gothic"/>
                <a:sym typeface="Century Gothic"/>
              </a:rPr>
              <a:t>Internet </a:t>
            </a:r>
            <a:r>
              <a:rPr lang="pt-BR" sz="3600" dirty="0" err="1">
                <a:solidFill>
                  <a:schemeClr val="lt1"/>
                </a:solidFill>
                <a:latin typeface="Century Gothic"/>
                <a:sym typeface="Century Gothic"/>
              </a:rPr>
              <a:t>Movie</a:t>
            </a:r>
            <a:r>
              <a:rPr lang="pt-BR" sz="3600" dirty="0">
                <a:solidFill>
                  <a:schemeClr val="lt1"/>
                </a:solidFill>
                <a:latin typeface="Century Gothic"/>
                <a:sym typeface="Century Gothic"/>
              </a:rPr>
              <a:t> </a:t>
            </a:r>
            <a:r>
              <a:rPr lang="pt-BR" sz="3600" dirty="0" err="1">
                <a:solidFill>
                  <a:schemeClr val="lt1"/>
                </a:solidFill>
                <a:latin typeface="Century Gothic"/>
                <a:sym typeface="Century Gothic"/>
              </a:rPr>
              <a:t>DataBase</a:t>
            </a:r>
            <a:endParaRPr lang="pt-BR" sz="3600" dirty="0">
              <a:solidFill>
                <a:schemeClr val="lt1"/>
              </a:solidFill>
              <a:latin typeface="Century Gothic"/>
              <a:sym typeface="Century Gothic"/>
            </a:endParaRPr>
          </a:p>
          <a:p>
            <a:pPr marL="0" marR="0" lvl="0" indent="0" algn="just" rtl="0">
              <a:spcBef>
                <a:spcPts val="0"/>
              </a:spcBef>
              <a:spcAft>
                <a:spcPts val="0"/>
              </a:spcAft>
              <a:buNone/>
            </a:pPr>
            <a:endParaRPr lang="pt-BR" sz="1050" dirty="0">
              <a:solidFill>
                <a:schemeClr val="bg1"/>
              </a:solidFill>
              <a:latin typeface="Century Gothic" panose="020B0502020202020204" pitchFamily="34" charset="0"/>
            </a:endParaRPr>
          </a:p>
          <a:p>
            <a:pPr marL="0" marR="0" lvl="0" indent="0" algn="just" rtl="0">
              <a:spcBef>
                <a:spcPts val="0"/>
              </a:spcBef>
              <a:spcAft>
                <a:spcPts val="0"/>
              </a:spcAft>
              <a:buNone/>
            </a:pPr>
            <a:endParaRPr lang="pt-BR" sz="1050" dirty="0">
              <a:solidFill>
                <a:schemeClr val="bg1"/>
              </a:solidFill>
              <a:latin typeface="Century Gothic" panose="020B0502020202020204" pitchFamily="34" charset="0"/>
            </a:endParaRPr>
          </a:p>
          <a:p>
            <a:pPr marL="0" marR="0" lvl="0" indent="0" algn="just" rtl="0">
              <a:spcBef>
                <a:spcPts val="0"/>
              </a:spcBef>
              <a:spcAft>
                <a:spcPts val="0"/>
              </a:spcAft>
              <a:buNone/>
            </a:pPr>
            <a:r>
              <a:rPr lang="pt-BR" sz="1200" dirty="0">
                <a:solidFill>
                  <a:schemeClr val="bg1"/>
                </a:solidFill>
                <a:latin typeface="Century Gothic" panose="020B0502020202020204" pitchFamily="34" charset="0"/>
              </a:rPr>
              <a:t>É uma base de dados online de informação sobre cinema, TV, música e games.</a:t>
            </a:r>
          </a:p>
          <a:p>
            <a:pPr marL="0" marR="0" lvl="0" indent="0" algn="just" rtl="0">
              <a:spcBef>
                <a:spcPts val="0"/>
              </a:spcBef>
              <a:spcAft>
                <a:spcPts val="0"/>
              </a:spcAft>
              <a:buNone/>
            </a:pPr>
            <a:r>
              <a:rPr lang="pt-BR" sz="1200" dirty="0">
                <a:solidFill>
                  <a:schemeClr val="bg1"/>
                </a:solidFill>
                <a:effectLst/>
                <a:latin typeface="Century Gothic" panose="020B0502020202020204" pitchFamily="34" charset="0"/>
                <a:ea typeface="Calibri" panose="020F0502020204030204" pitchFamily="34" charset="0"/>
              </a:rPr>
              <a:t>Além de reunir informações sobre artistas e produções, o site também permite que usuários criem listas e avaliem seus filmes favoritos. </a:t>
            </a:r>
            <a:endParaRPr lang="pt-BR" sz="1200" dirty="0">
              <a:solidFill>
                <a:schemeClr val="bg1"/>
              </a:solidFill>
              <a:latin typeface="Century Gothic" panose="020B0502020202020204" pitchFamily="34" charset="0"/>
            </a:endParaRPr>
          </a:p>
        </p:txBody>
      </p:sp>
      <p:pic>
        <p:nvPicPr>
          <p:cNvPr id="112" name="Google Shape;112;p3" descr="Uma imagem contendo objeto, relógio, laranja, trem&#10;&#10;Descrição gerada automaticamente"/>
          <p:cNvPicPr preferRelativeResize="0"/>
          <p:nvPr/>
        </p:nvPicPr>
        <p:blipFill rotWithShape="1">
          <a:blip r:embed="rId5">
            <a:alphaModFix/>
          </a:blip>
          <a:srcRect/>
          <a:stretch/>
        </p:blipFill>
        <p:spPr>
          <a:xfrm>
            <a:off x="394193" y="204720"/>
            <a:ext cx="1864519" cy="633110"/>
          </a:xfrm>
          <a:prstGeom prst="rect">
            <a:avLst/>
          </a:prstGeom>
          <a:noFill/>
          <a:ln>
            <a:noFill/>
          </a:ln>
        </p:spPr>
      </p:pic>
      <p:sp>
        <p:nvSpPr>
          <p:cNvPr id="113" name="Google Shape;113;p3"/>
          <p:cNvSpPr txBox="1"/>
          <p:nvPr/>
        </p:nvSpPr>
        <p:spPr>
          <a:xfrm>
            <a:off x="2487371" y="301443"/>
            <a:ext cx="6986588"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dirty="0">
                <a:solidFill>
                  <a:schemeClr val="lt1"/>
                </a:solidFill>
                <a:latin typeface="Century Gothic"/>
                <a:ea typeface="Century Gothic"/>
                <a:cs typeface="Century Gothic"/>
                <a:sym typeface="Century Gothic"/>
              </a:rPr>
              <a:t>Início     Filmes     Séries     Minha Lista </a:t>
            </a:r>
            <a:endParaRPr dirty="0"/>
          </a:p>
        </p:txBody>
      </p:sp>
      <p:pic>
        <p:nvPicPr>
          <p:cNvPr id="114" name="Google Shape;114;p3" descr="Ícone&#10;&#10;Descrição gerada automaticamente"/>
          <p:cNvPicPr preferRelativeResize="0"/>
          <p:nvPr/>
        </p:nvPicPr>
        <p:blipFill rotWithShape="1">
          <a:blip r:embed="rId6">
            <a:alphaModFix/>
          </a:blip>
          <a:srcRect/>
          <a:stretch/>
        </p:blipFill>
        <p:spPr>
          <a:xfrm>
            <a:off x="9880255" y="331280"/>
            <a:ext cx="459581" cy="459581"/>
          </a:xfrm>
          <a:prstGeom prst="rect">
            <a:avLst/>
          </a:prstGeom>
          <a:noFill/>
          <a:ln>
            <a:noFill/>
          </a:ln>
        </p:spPr>
      </p:pic>
      <p:sp>
        <p:nvSpPr>
          <p:cNvPr id="115" name="Google Shape;115;p3"/>
          <p:cNvSpPr txBox="1"/>
          <p:nvPr/>
        </p:nvSpPr>
        <p:spPr>
          <a:xfrm>
            <a:off x="8791566" y="331280"/>
            <a:ext cx="128592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Pesquisar </a:t>
            </a:r>
            <a:endParaRPr/>
          </a:p>
        </p:txBody>
      </p:sp>
      <p:sp>
        <p:nvSpPr>
          <p:cNvPr id="116" name="Google Shape;116;p3"/>
          <p:cNvSpPr txBox="1"/>
          <p:nvPr/>
        </p:nvSpPr>
        <p:spPr>
          <a:xfrm>
            <a:off x="689837" y="1247439"/>
            <a:ext cx="2370957"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dirty="0">
                <a:solidFill>
                  <a:schemeClr val="lt1"/>
                </a:solidFill>
                <a:latin typeface="Century Gothic"/>
                <a:ea typeface="Century Gothic"/>
                <a:cs typeface="Century Gothic"/>
                <a:sym typeface="Century Gothic"/>
              </a:rPr>
              <a:t>ORIGINAL </a:t>
            </a:r>
            <a:r>
              <a:rPr lang="pt-BR" sz="2000" b="1" dirty="0">
                <a:solidFill>
                  <a:schemeClr val="lt1"/>
                </a:solidFill>
                <a:latin typeface="Century Gothic"/>
                <a:ea typeface="Century Gothic"/>
                <a:cs typeface="Century Gothic"/>
                <a:sym typeface="Century Gothic"/>
              </a:rPr>
              <a:t>NETFLIX</a:t>
            </a:r>
            <a:r>
              <a:rPr lang="pt-BR" sz="2000" dirty="0">
                <a:solidFill>
                  <a:schemeClr val="lt1"/>
                </a:solidFill>
                <a:latin typeface="Century Gothic"/>
                <a:ea typeface="Century Gothic"/>
                <a:cs typeface="Century Gothic"/>
                <a:sym typeface="Century Gothic"/>
              </a:rPr>
              <a:t> </a:t>
            </a:r>
            <a:endParaRPr dirty="0"/>
          </a:p>
        </p:txBody>
      </p:sp>
      <p:grpSp>
        <p:nvGrpSpPr>
          <p:cNvPr id="117" name="Google Shape;117;p3"/>
          <p:cNvGrpSpPr/>
          <p:nvPr/>
        </p:nvGrpSpPr>
        <p:grpSpPr>
          <a:xfrm>
            <a:off x="10339836" y="273308"/>
            <a:ext cx="1457972" cy="369332"/>
            <a:chOff x="9828445" y="385086"/>
            <a:chExt cx="1693635" cy="369332"/>
          </a:xfrm>
        </p:grpSpPr>
        <p:sp>
          <p:nvSpPr>
            <p:cNvPr id="118" name="Google Shape;118;p3"/>
            <p:cNvSpPr txBox="1"/>
            <p:nvPr/>
          </p:nvSpPr>
          <p:spPr>
            <a:xfrm>
              <a:off x="9828445" y="385086"/>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3"/>
            <p:cNvSpPr/>
            <p:nvPr/>
          </p:nvSpPr>
          <p:spPr>
            <a:xfrm rot="10800000" flipH="1">
              <a:off x="11351815" y="535451"/>
              <a:ext cx="170265" cy="14677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20" name="Google Shape;120;p3"/>
          <p:cNvGrpSpPr/>
          <p:nvPr/>
        </p:nvGrpSpPr>
        <p:grpSpPr>
          <a:xfrm>
            <a:off x="673726" y="3731670"/>
            <a:ext cx="1441445" cy="406169"/>
            <a:chOff x="6416299" y="1532825"/>
            <a:chExt cx="1935237" cy="605941"/>
          </a:xfrm>
        </p:grpSpPr>
        <p:sp>
          <p:nvSpPr>
            <p:cNvPr id="121" name="Google Shape;121;p3"/>
            <p:cNvSpPr/>
            <p:nvPr/>
          </p:nvSpPr>
          <p:spPr>
            <a:xfrm>
              <a:off x="6416299" y="1532825"/>
              <a:ext cx="1935237" cy="605941"/>
            </a:xfrm>
            <a:prstGeom prst="roundRect">
              <a:avLst>
                <a:gd name="adj" fmla="val 41046"/>
              </a:avLst>
            </a:prstGeom>
            <a:solidFill>
              <a:srgbClr val="C00000"/>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r" rtl="0">
                <a:spcBef>
                  <a:spcPts val="0"/>
                </a:spcBef>
                <a:spcAft>
                  <a:spcPts val="0"/>
                </a:spcAft>
                <a:buNone/>
              </a:pPr>
              <a:endParaRPr sz="1800" b="1">
                <a:solidFill>
                  <a:schemeClr val="lt1"/>
                </a:solidFill>
                <a:latin typeface="Calibri"/>
                <a:ea typeface="Calibri"/>
                <a:cs typeface="Calibri"/>
                <a:sym typeface="Calibri"/>
              </a:endParaRPr>
            </a:p>
          </p:txBody>
        </p:sp>
        <p:sp>
          <p:nvSpPr>
            <p:cNvPr id="122" name="Google Shape;122;p3"/>
            <p:cNvSpPr/>
            <p:nvPr/>
          </p:nvSpPr>
          <p:spPr>
            <a:xfrm>
              <a:off x="7017319" y="1582283"/>
              <a:ext cx="722861" cy="5050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pt-BR" sz="1600" b="1">
                  <a:solidFill>
                    <a:schemeClr val="lt1"/>
                  </a:solidFill>
                  <a:latin typeface="Calibri"/>
                  <a:ea typeface="Calibri"/>
                  <a:cs typeface="Calibri"/>
                  <a:sym typeface="Calibri"/>
                </a:rPr>
                <a:t>Play</a:t>
              </a:r>
              <a:endParaRPr sz="1600" b="1">
                <a:solidFill>
                  <a:schemeClr val="lt1"/>
                </a:solidFill>
                <a:latin typeface="Calibri"/>
                <a:ea typeface="Calibri"/>
                <a:cs typeface="Calibri"/>
                <a:sym typeface="Calibri"/>
              </a:endParaRPr>
            </a:p>
          </p:txBody>
        </p:sp>
        <p:sp>
          <p:nvSpPr>
            <p:cNvPr id="123" name="Google Shape;123;p3"/>
            <p:cNvSpPr/>
            <p:nvPr/>
          </p:nvSpPr>
          <p:spPr>
            <a:xfrm rot="5400000">
              <a:off x="6761353" y="1743893"/>
              <a:ext cx="222521" cy="19182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24" name="Google Shape;124;p3"/>
          <p:cNvGrpSpPr/>
          <p:nvPr/>
        </p:nvGrpSpPr>
        <p:grpSpPr>
          <a:xfrm>
            <a:off x="2562836" y="3731671"/>
            <a:ext cx="1441445" cy="406169"/>
            <a:chOff x="6416299" y="1578916"/>
            <a:chExt cx="1935237" cy="605941"/>
          </a:xfrm>
        </p:grpSpPr>
        <p:sp>
          <p:nvSpPr>
            <p:cNvPr id="125" name="Google Shape;125;p3"/>
            <p:cNvSpPr/>
            <p:nvPr/>
          </p:nvSpPr>
          <p:spPr>
            <a:xfrm>
              <a:off x="6416299" y="1578916"/>
              <a:ext cx="1935237" cy="605941"/>
            </a:xfrm>
            <a:prstGeom prst="roundRect">
              <a:avLst>
                <a:gd name="adj" fmla="val 41046"/>
              </a:avLst>
            </a:prstGeom>
            <a:solidFill>
              <a:schemeClr val="lt1">
                <a:alpha val="29803"/>
              </a:schemeClr>
            </a:solidFill>
            <a:ln w="158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r" rtl="0">
                <a:spcBef>
                  <a:spcPts val="0"/>
                </a:spcBef>
                <a:spcAft>
                  <a:spcPts val="0"/>
                </a:spcAft>
                <a:buNone/>
              </a:pPr>
              <a:endParaRPr sz="1800" b="1">
                <a:solidFill>
                  <a:schemeClr val="lt1"/>
                </a:solidFill>
                <a:latin typeface="Calibri"/>
                <a:ea typeface="Calibri"/>
                <a:cs typeface="Calibri"/>
                <a:sym typeface="Calibri"/>
              </a:endParaRPr>
            </a:p>
          </p:txBody>
        </p:sp>
        <p:sp>
          <p:nvSpPr>
            <p:cNvPr id="126" name="Google Shape;126;p3"/>
            <p:cNvSpPr/>
            <p:nvPr/>
          </p:nvSpPr>
          <p:spPr>
            <a:xfrm>
              <a:off x="6606072" y="1600479"/>
              <a:ext cx="1508134" cy="5050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pt-BR" sz="1600" b="1">
                  <a:solidFill>
                    <a:schemeClr val="lt1"/>
                  </a:solidFill>
                  <a:latin typeface="Calibri"/>
                  <a:ea typeface="Calibri"/>
                  <a:cs typeface="Calibri"/>
                  <a:sym typeface="Calibri"/>
                </a:rPr>
                <a:t>Start Again</a:t>
              </a:r>
              <a:endParaRPr sz="1600" b="1">
                <a:solidFill>
                  <a:schemeClr val="lt1"/>
                </a:solidFill>
                <a:latin typeface="Calibri"/>
                <a:ea typeface="Calibri"/>
                <a:cs typeface="Calibri"/>
                <a:sym typeface="Calibri"/>
              </a:endParaRPr>
            </a:p>
          </p:txBody>
        </p:sp>
      </p:grpSp>
      <p:sp>
        <p:nvSpPr>
          <p:cNvPr id="127" name="Google Shape;127;p3"/>
          <p:cNvSpPr txBox="1"/>
          <p:nvPr/>
        </p:nvSpPr>
        <p:spPr>
          <a:xfrm>
            <a:off x="8325824" y="-1274293"/>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 name="Google Shape;128;p3"/>
          <p:cNvSpPr/>
          <p:nvPr/>
        </p:nvSpPr>
        <p:spPr>
          <a:xfrm>
            <a:off x="-30651" y="5204656"/>
            <a:ext cx="12192000" cy="1914007"/>
          </a:xfrm>
          <a:prstGeom prst="rect">
            <a:avLst/>
          </a:prstGeom>
          <a:solidFill>
            <a:srgbClr val="D8D8D8">
              <a:alpha val="28627"/>
            </a:srgbClr>
          </a:solidFill>
          <a:ln>
            <a:noFill/>
          </a:ln>
          <a:effectLst>
            <a:outerShdw blurRad="444500" dist="50800" dir="16200000" rotWithShape="0">
              <a:srgbClr val="000000">
                <a:alpha val="8862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29" name="Google Shape;129;p3" descr="Desenho de personagem de desenho animado&#10;&#10;Descrição gerada automaticamente com confiança média"/>
          <p:cNvPicPr preferRelativeResize="0"/>
          <p:nvPr/>
        </p:nvPicPr>
        <p:blipFill rotWithShape="1">
          <a:blip r:embed="rId7">
            <a:alphaModFix/>
          </a:blip>
          <a:srcRect/>
          <a:stretch/>
        </p:blipFill>
        <p:spPr>
          <a:xfrm>
            <a:off x="11185062" y="326916"/>
            <a:ext cx="300935" cy="305234"/>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30" name="Google Shape;130;p3"/>
          <p:cNvSpPr/>
          <p:nvPr/>
        </p:nvSpPr>
        <p:spPr>
          <a:xfrm>
            <a:off x="-14893" y="4892498"/>
            <a:ext cx="12192000" cy="1884194"/>
          </a:xfrm>
          <a:prstGeom prst="rect">
            <a:avLst/>
          </a:prstGeom>
          <a:solidFill>
            <a:srgbClr val="D8D8D8">
              <a:alpha val="28627"/>
            </a:srgbClr>
          </a:solidFill>
          <a:ln>
            <a:noFill/>
          </a:ln>
          <a:effectLst>
            <a:outerShdw blurRad="444500" dist="50800" dir="16200000" rotWithShape="0">
              <a:srgbClr val="000000">
                <a:alpha val="8862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pic>
        <p:nvPicPr>
          <p:cNvPr id="131" name="Google Shape;131;p3"/>
          <p:cNvPicPr preferRelativeResize="0"/>
          <p:nvPr/>
        </p:nvPicPr>
        <p:blipFill rotWithShape="1">
          <a:blip r:embed="rId8">
            <a:alphaModFix/>
          </a:blip>
          <a:srcRect l="12719" r="12718"/>
          <a:stretch/>
        </p:blipFill>
        <p:spPr>
          <a:xfrm>
            <a:off x="0" y="5008093"/>
            <a:ext cx="1379337" cy="1849907"/>
          </a:xfrm>
          <a:prstGeom prst="rect">
            <a:avLst/>
          </a:prstGeom>
          <a:noFill/>
          <a:ln>
            <a:noFill/>
          </a:ln>
        </p:spPr>
      </p:pic>
      <p:pic>
        <p:nvPicPr>
          <p:cNvPr id="133" name="Google Shape;133;p3"/>
          <p:cNvPicPr preferRelativeResize="0"/>
          <p:nvPr/>
        </p:nvPicPr>
        <p:blipFill rotWithShape="1">
          <a:blip r:embed="rId8">
            <a:alphaModFix/>
          </a:blip>
          <a:srcRect l="12878" r="12878"/>
          <a:stretch/>
        </p:blipFill>
        <p:spPr>
          <a:xfrm>
            <a:off x="4433137" y="4985397"/>
            <a:ext cx="1383879" cy="1863951"/>
          </a:xfrm>
          <a:prstGeom prst="rect">
            <a:avLst/>
          </a:prstGeom>
          <a:noFill/>
          <a:ln>
            <a:noFill/>
          </a:ln>
        </p:spPr>
      </p:pic>
      <p:pic>
        <p:nvPicPr>
          <p:cNvPr id="134" name="Google Shape;134;p3"/>
          <p:cNvPicPr preferRelativeResize="0"/>
          <p:nvPr/>
        </p:nvPicPr>
        <p:blipFill rotWithShape="1">
          <a:blip r:embed="rId8">
            <a:alphaModFix/>
          </a:blip>
          <a:srcRect l="12945" r="12944"/>
          <a:stretch/>
        </p:blipFill>
        <p:spPr>
          <a:xfrm>
            <a:off x="8094573" y="5000606"/>
            <a:ext cx="1370964" cy="1849907"/>
          </a:xfrm>
          <a:prstGeom prst="rect">
            <a:avLst/>
          </a:prstGeom>
          <a:noFill/>
          <a:ln>
            <a:noFill/>
          </a:ln>
        </p:spPr>
      </p:pic>
      <p:sp>
        <p:nvSpPr>
          <p:cNvPr id="135" name="Google Shape;135;p3">
            <a:hlinkClick r:id="rId9" action="ppaction://hlinksldjump"/>
          </p:cNvPr>
          <p:cNvSpPr/>
          <p:nvPr/>
        </p:nvSpPr>
        <p:spPr>
          <a:xfrm>
            <a:off x="5399888" y="6260619"/>
            <a:ext cx="1416158" cy="30841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6" name="Google Shape;136;p3">
            <a:hlinkClick r:id="" action="ppaction://noaction"/>
          </p:cNvPr>
          <p:cNvSpPr/>
          <p:nvPr/>
        </p:nvSpPr>
        <p:spPr>
          <a:xfrm>
            <a:off x="8896955" y="6260617"/>
            <a:ext cx="2075845" cy="29344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7" name="Google Shape;137;p3"/>
          <p:cNvSpPr/>
          <p:nvPr/>
        </p:nvSpPr>
        <p:spPr>
          <a:xfrm rot="2341137">
            <a:off x="11703656" y="5424829"/>
            <a:ext cx="552674" cy="548649"/>
          </a:xfrm>
          <a:prstGeom prst="corner">
            <a:avLst>
              <a:gd name="adj1" fmla="val 12787"/>
              <a:gd name="adj2" fmla="val 14746"/>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 name="Imagem 4">
            <a:extLst>
              <a:ext uri="{FF2B5EF4-FFF2-40B4-BE49-F238E27FC236}">
                <a16:creationId xmlns:a16="http://schemas.microsoft.com/office/drawing/2014/main" id="{1384EF7E-8C46-5EA9-44B8-2F29099EE7DF}"/>
              </a:ext>
            </a:extLst>
          </p:cNvPr>
          <p:cNvPicPr>
            <a:picLocks noChangeAspect="1"/>
          </p:cNvPicPr>
          <p:nvPr/>
        </p:nvPicPr>
        <p:blipFill>
          <a:blip r:embed="rId10"/>
          <a:stretch>
            <a:fillRect/>
          </a:stretch>
        </p:blipFill>
        <p:spPr>
          <a:xfrm>
            <a:off x="30651" y="4897573"/>
            <a:ext cx="1379337" cy="193519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CaixaDeTexto 5">
            <a:extLst>
              <a:ext uri="{FF2B5EF4-FFF2-40B4-BE49-F238E27FC236}">
                <a16:creationId xmlns:a16="http://schemas.microsoft.com/office/drawing/2014/main" id="{61615D1F-2F53-E268-4159-BF01DECC51F4}"/>
              </a:ext>
            </a:extLst>
          </p:cNvPr>
          <p:cNvSpPr txBox="1"/>
          <p:nvPr/>
        </p:nvSpPr>
        <p:spPr>
          <a:xfrm>
            <a:off x="205273" y="4554908"/>
            <a:ext cx="1909898" cy="307777"/>
          </a:xfrm>
          <a:prstGeom prst="rect">
            <a:avLst/>
          </a:prstGeom>
          <a:noFill/>
        </p:spPr>
        <p:txBody>
          <a:bodyPr wrap="square" rtlCol="0">
            <a:spAutoFit/>
          </a:bodyPr>
          <a:lstStyle/>
          <a:p>
            <a:r>
              <a:rPr lang="pt-BR" b="1" dirty="0">
                <a:solidFill>
                  <a:schemeClr val="bg1"/>
                </a:solidFill>
                <a:latin typeface="Century Gothic" panose="020B0502020202020204" pitchFamily="34" charset="0"/>
              </a:rPr>
              <a:t>Populares na Netflix</a:t>
            </a:r>
          </a:p>
        </p:txBody>
      </p:sp>
      <p:pic>
        <p:nvPicPr>
          <p:cNvPr id="8" name="Imagem 7">
            <a:extLst>
              <a:ext uri="{FF2B5EF4-FFF2-40B4-BE49-F238E27FC236}">
                <a16:creationId xmlns:a16="http://schemas.microsoft.com/office/drawing/2014/main" id="{4F413458-D3C6-7CE2-BD44-1CCB1D63A616}"/>
              </a:ext>
            </a:extLst>
          </p:cNvPr>
          <p:cNvPicPr>
            <a:picLocks noChangeAspect="1"/>
          </p:cNvPicPr>
          <p:nvPr/>
        </p:nvPicPr>
        <p:blipFill>
          <a:blip r:embed="rId11"/>
          <a:stretch>
            <a:fillRect/>
          </a:stretch>
        </p:blipFill>
        <p:spPr>
          <a:xfrm>
            <a:off x="1448060" y="4904801"/>
            <a:ext cx="1379338" cy="19207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Imagem 9">
            <a:extLst>
              <a:ext uri="{FF2B5EF4-FFF2-40B4-BE49-F238E27FC236}">
                <a16:creationId xmlns:a16="http://schemas.microsoft.com/office/drawing/2014/main" id="{6A83C10C-5BE4-023A-2A1C-CD35C6F8A8B2}"/>
              </a:ext>
            </a:extLst>
          </p:cNvPr>
          <p:cNvPicPr>
            <a:picLocks noChangeAspect="1"/>
          </p:cNvPicPr>
          <p:nvPr/>
        </p:nvPicPr>
        <p:blipFill>
          <a:blip r:embed="rId12"/>
          <a:stretch>
            <a:fillRect/>
          </a:stretch>
        </p:blipFill>
        <p:spPr>
          <a:xfrm>
            <a:off x="2886254" y="4911768"/>
            <a:ext cx="1323196" cy="19137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2" name="Imagem 11">
            <a:extLst>
              <a:ext uri="{FF2B5EF4-FFF2-40B4-BE49-F238E27FC236}">
                <a16:creationId xmlns:a16="http://schemas.microsoft.com/office/drawing/2014/main" id="{C07EA1C4-C241-2F92-659F-B37E970F58A2}"/>
              </a:ext>
            </a:extLst>
          </p:cNvPr>
          <p:cNvPicPr>
            <a:picLocks noChangeAspect="1"/>
          </p:cNvPicPr>
          <p:nvPr/>
        </p:nvPicPr>
        <p:blipFill>
          <a:blip r:embed="rId13"/>
          <a:stretch>
            <a:fillRect/>
          </a:stretch>
        </p:blipFill>
        <p:spPr>
          <a:xfrm>
            <a:off x="4278057" y="4892497"/>
            <a:ext cx="1416158" cy="19498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4" name="Imagem 13">
            <a:extLst>
              <a:ext uri="{FF2B5EF4-FFF2-40B4-BE49-F238E27FC236}">
                <a16:creationId xmlns:a16="http://schemas.microsoft.com/office/drawing/2014/main" id="{B62E9419-FF27-09CC-3DFE-1E73D309AC11}"/>
              </a:ext>
            </a:extLst>
          </p:cNvPr>
          <p:cNvPicPr>
            <a:picLocks noChangeAspect="1"/>
          </p:cNvPicPr>
          <p:nvPr/>
        </p:nvPicPr>
        <p:blipFill>
          <a:blip r:embed="rId14"/>
          <a:stretch>
            <a:fillRect/>
          </a:stretch>
        </p:blipFill>
        <p:spPr>
          <a:xfrm>
            <a:off x="5660109" y="4860886"/>
            <a:ext cx="1451316" cy="19784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6" name="Imagem 15">
            <a:extLst>
              <a:ext uri="{FF2B5EF4-FFF2-40B4-BE49-F238E27FC236}">
                <a16:creationId xmlns:a16="http://schemas.microsoft.com/office/drawing/2014/main" id="{A75CF658-60DA-E145-622E-728ECB64B31F}"/>
              </a:ext>
            </a:extLst>
          </p:cNvPr>
          <p:cNvPicPr>
            <a:picLocks noChangeAspect="1"/>
          </p:cNvPicPr>
          <p:nvPr/>
        </p:nvPicPr>
        <p:blipFill>
          <a:blip r:embed="rId15"/>
          <a:stretch>
            <a:fillRect/>
          </a:stretch>
        </p:blipFill>
        <p:spPr>
          <a:xfrm>
            <a:off x="7077519" y="4897574"/>
            <a:ext cx="1321243" cy="19517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8" name="Imagem 17">
            <a:extLst>
              <a:ext uri="{FF2B5EF4-FFF2-40B4-BE49-F238E27FC236}">
                <a16:creationId xmlns:a16="http://schemas.microsoft.com/office/drawing/2014/main" id="{5E63199E-530C-731F-4F6C-065177AD39EC}"/>
              </a:ext>
            </a:extLst>
          </p:cNvPr>
          <p:cNvPicPr>
            <a:picLocks noChangeAspect="1"/>
          </p:cNvPicPr>
          <p:nvPr/>
        </p:nvPicPr>
        <p:blipFill>
          <a:blip r:embed="rId16"/>
          <a:stretch>
            <a:fillRect/>
          </a:stretch>
        </p:blipFill>
        <p:spPr>
          <a:xfrm>
            <a:off x="8450457" y="4885257"/>
            <a:ext cx="1395662" cy="19640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0" name="Imagem 19">
            <a:extLst>
              <a:ext uri="{FF2B5EF4-FFF2-40B4-BE49-F238E27FC236}">
                <a16:creationId xmlns:a16="http://schemas.microsoft.com/office/drawing/2014/main" id="{1FA90ECA-A41A-DAA7-6C0C-41DEE7B363CD}"/>
              </a:ext>
            </a:extLst>
          </p:cNvPr>
          <p:cNvPicPr>
            <a:picLocks noChangeAspect="1"/>
          </p:cNvPicPr>
          <p:nvPr/>
        </p:nvPicPr>
        <p:blipFill>
          <a:blip r:embed="rId17"/>
          <a:stretch>
            <a:fillRect/>
          </a:stretch>
        </p:blipFill>
        <p:spPr>
          <a:xfrm>
            <a:off x="9922262" y="4860887"/>
            <a:ext cx="1285929" cy="19888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3" name="CaixaDeTexto 22">
            <a:extLst>
              <a:ext uri="{FF2B5EF4-FFF2-40B4-BE49-F238E27FC236}">
                <a16:creationId xmlns:a16="http://schemas.microsoft.com/office/drawing/2014/main" id="{E3A07890-DAC5-1B37-5A8A-19714F90331C}"/>
              </a:ext>
            </a:extLst>
          </p:cNvPr>
          <p:cNvSpPr txBox="1"/>
          <p:nvPr/>
        </p:nvSpPr>
        <p:spPr>
          <a:xfrm>
            <a:off x="720319" y="2684252"/>
            <a:ext cx="2309994" cy="261610"/>
          </a:xfrm>
          <a:prstGeom prst="rect">
            <a:avLst/>
          </a:prstGeom>
          <a:noFill/>
        </p:spPr>
        <p:txBody>
          <a:bodyPr wrap="square" rtlCol="0">
            <a:spAutoFit/>
          </a:bodyPr>
          <a:lstStyle/>
          <a:p>
            <a:r>
              <a:rPr lang="pt-BR" sz="1100" b="1" dirty="0">
                <a:solidFill>
                  <a:schemeClr val="accent6"/>
                </a:solidFill>
              </a:rPr>
              <a:t>89% Match    </a:t>
            </a:r>
            <a:r>
              <a:rPr lang="pt-BR" sz="1100" b="1" dirty="0">
                <a:solidFill>
                  <a:schemeClr val="bg1"/>
                </a:solidFill>
                <a:latin typeface="Century Gothic" panose="020B0502020202020204" pitchFamily="34" charset="0"/>
              </a:rPr>
              <a:t>1990</a:t>
            </a:r>
            <a:r>
              <a:rPr lang="pt-BR" sz="1100" dirty="0">
                <a:solidFill>
                  <a:schemeClr val="bg1"/>
                </a:solidFill>
                <a:latin typeface="Century Gothic" panose="020B0502020202020204" pitchFamily="34" charset="0"/>
              </a:rPr>
              <a:t>   10 </a:t>
            </a:r>
            <a:r>
              <a:rPr lang="pt-BR" sz="1100" dirty="0" err="1">
                <a:solidFill>
                  <a:schemeClr val="bg1"/>
                </a:solidFill>
                <a:latin typeface="Century Gothic" panose="020B0502020202020204" pitchFamily="34" charset="0"/>
              </a:rPr>
              <a:t>Seasons</a:t>
            </a:r>
            <a:endParaRPr lang="pt-BR" sz="1100" dirty="0">
              <a:solidFill>
                <a:schemeClr val="bg1"/>
              </a:solidFill>
              <a:latin typeface="Century Gothic" panose="020B0502020202020204" pitchFamily="34" charset="0"/>
            </a:endParaRPr>
          </a:p>
        </p:txBody>
      </p:sp>
      <p:sp>
        <p:nvSpPr>
          <p:cNvPr id="26" name="CaixaDeTexto 25">
            <a:extLst>
              <a:ext uri="{FF2B5EF4-FFF2-40B4-BE49-F238E27FC236}">
                <a16:creationId xmlns:a16="http://schemas.microsoft.com/office/drawing/2014/main" id="{B30046D2-9643-F2FB-F633-FF82765E7F75}"/>
              </a:ext>
            </a:extLst>
          </p:cNvPr>
          <p:cNvSpPr txBox="1"/>
          <p:nvPr/>
        </p:nvSpPr>
        <p:spPr>
          <a:xfrm>
            <a:off x="2960899" y="2707858"/>
            <a:ext cx="960902" cy="246221"/>
          </a:xfrm>
          <a:prstGeom prst="rect">
            <a:avLst/>
          </a:prstGeom>
          <a:noFill/>
          <a:ln w="3175">
            <a:solidFill>
              <a:schemeClr val="bg1"/>
            </a:solidFill>
          </a:ln>
        </p:spPr>
        <p:txBody>
          <a:bodyPr wrap="square" rtlCol="0">
            <a:spAutoFit/>
          </a:bodyPr>
          <a:lstStyle/>
          <a:p>
            <a:r>
              <a:rPr lang="pt-BR" sz="1000" dirty="0">
                <a:solidFill>
                  <a:schemeClr val="bg1"/>
                </a:solidFill>
                <a:latin typeface="Century Gothic" panose="020B0502020202020204" pitchFamily="34" charset="0"/>
              </a:rPr>
              <a:t>  4K Ultra HD</a:t>
            </a:r>
            <a:endParaRPr lang="pt-BR" sz="1000" dirty="0"/>
          </a:p>
        </p:txBody>
      </p:sp>
    </p:spTree>
    <p:extLst>
      <p:ext uri="{BB962C8B-B14F-4D97-AF65-F5344CB8AC3E}">
        <p14:creationId xmlns:p14="http://schemas.microsoft.com/office/powerpoint/2010/main" val="301374387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4" name="Imagem 3">
            <a:extLst>
              <a:ext uri="{FF2B5EF4-FFF2-40B4-BE49-F238E27FC236}">
                <a16:creationId xmlns:a16="http://schemas.microsoft.com/office/drawing/2014/main" id="{209DBB82-05AA-DFCA-3DF3-EF29FFE29737}"/>
              </a:ext>
            </a:extLst>
          </p:cNvPr>
          <p:cNvPicPr>
            <a:picLocks noChangeAspect="1"/>
          </p:cNvPicPr>
          <p:nvPr/>
        </p:nvPicPr>
        <p:blipFill>
          <a:blip r:embed="rId3"/>
          <a:stretch>
            <a:fillRect/>
          </a:stretch>
        </p:blipFill>
        <p:spPr>
          <a:xfrm>
            <a:off x="0" y="0"/>
            <a:ext cx="12192000" cy="6858000"/>
          </a:xfrm>
          <a:prstGeom prst="rect">
            <a:avLst/>
          </a:prstGeom>
        </p:spPr>
      </p:pic>
      <p:sp>
        <p:nvSpPr>
          <p:cNvPr id="212" name="Google Shape;212;p6"/>
          <p:cNvSpPr/>
          <p:nvPr/>
        </p:nvSpPr>
        <p:spPr>
          <a:xfrm>
            <a:off x="35998" y="17610"/>
            <a:ext cx="12192000" cy="6858000"/>
          </a:xfrm>
          <a:prstGeom prst="rect">
            <a:avLst/>
          </a:prstGeom>
          <a:gradFill>
            <a:gsLst>
              <a:gs pos="0">
                <a:schemeClr val="dk1"/>
              </a:gs>
              <a:gs pos="9000">
                <a:srgbClr val="000000"/>
              </a:gs>
              <a:gs pos="72000">
                <a:srgbClr val="000000">
                  <a:alpha val="31764"/>
                </a:srgbClr>
              </a:gs>
              <a:gs pos="100000">
                <a:srgbClr val="000000">
                  <a:alpha val="31764"/>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13" name="Google Shape;213;p6"/>
          <p:cNvGrpSpPr/>
          <p:nvPr/>
        </p:nvGrpSpPr>
        <p:grpSpPr>
          <a:xfrm>
            <a:off x="718131" y="5868884"/>
            <a:ext cx="11102042" cy="454257"/>
            <a:chOff x="508288" y="5715000"/>
            <a:chExt cx="11173968" cy="457200"/>
          </a:xfrm>
        </p:grpSpPr>
        <p:sp>
          <p:nvSpPr>
            <p:cNvPr id="214" name="Google Shape;214;p6"/>
            <p:cNvSpPr/>
            <p:nvPr/>
          </p:nvSpPr>
          <p:spPr>
            <a:xfrm>
              <a:off x="508288" y="5715000"/>
              <a:ext cx="11173968" cy="457200"/>
            </a:xfrm>
            <a:prstGeom prst="roundRect">
              <a:avLst>
                <a:gd name="adj" fmla="val 50000"/>
              </a:avLst>
            </a:prstGeom>
            <a:solidFill>
              <a:srgbClr val="181717">
                <a:alpha val="7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15" name="Google Shape;215;p6"/>
            <p:cNvCxnSpPr/>
            <p:nvPr/>
          </p:nvCxnSpPr>
          <p:spPr>
            <a:xfrm>
              <a:off x="1447800" y="5943600"/>
              <a:ext cx="9124950" cy="0"/>
            </a:xfrm>
            <a:prstGeom prst="straightConnector1">
              <a:avLst/>
            </a:prstGeom>
            <a:noFill/>
            <a:ln w="47625" cap="flat" cmpd="sng">
              <a:solidFill>
                <a:schemeClr val="lt1"/>
              </a:solidFill>
              <a:prstDash val="solid"/>
              <a:miter lim="800000"/>
              <a:headEnd type="none" w="sm" len="sm"/>
              <a:tailEnd type="none" w="sm" len="sm"/>
            </a:ln>
          </p:spPr>
        </p:cxnSp>
        <p:cxnSp>
          <p:nvCxnSpPr>
            <p:cNvPr id="216" name="Google Shape;216;p6"/>
            <p:cNvCxnSpPr/>
            <p:nvPr/>
          </p:nvCxnSpPr>
          <p:spPr>
            <a:xfrm>
              <a:off x="1447800" y="5943601"/>
              <a:ext cx="2840719" cy="0"/>
            </a:xfrm>
            <a:prstGeom prst="straightConnector1">
              <a:avLst/>
            </a:prstGeom>
            <a:noFill/>
            <a:ln w="47625" cap="flat" cmpd="sng">
              <a:solidFill>
                <a:srgbClr val="A80000"/>
              </a:solidFill>
              <a:prstDash val="solid"/>
              <a:miter lim="800000"/>
              <a:headEnd type="none" w="sm" len="sm"/>
              <a:tailEnd type="none" w="sm" len="sm"/>
            </a:ln>
          </p:spPr>
        </p:cxnSp>
        <p:sp>
          <p:nvSpPr>
            <p:cNvPr id="217" name="Google Shape;217;p6"/>
            <p:cNvSpPr/>
            <p:nvPr/>
          </p:nvSpPr>
          <p:spPr>
            <a:xfrm>
              <a:off x="4212313" y="5856732"/>
              <a:ext cx="173736" cy="17373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18" name="Google Shape;218;p6"/>
            <p:cNvGrpSpPr/>
            <p:nvPr/>
          </p:nvGrpSpPr>
          <p:grpSpPr>
            <a:xfrm>
              <a:off x="770654" y="5846189"/>
              <a:ext cx="138260" cy="194821"/>
              <a:chOff x="1058944" y="5338713"/>
              <a:chExt cx="138260" cy="194821"/>
            </a:xfrm>
          </p:grpSpPr>
          <p:sp>
            <p:nvSpPr>
              <p:cNvPr id="219" name="Google Shape;219;p6"/>
              <p:cNvSpPr/>
              <p:nvPr/>
            </p:nvSpPr>
            <p:spPr>
              <a:xfrm>
                <a:off x="1058944" y="5338713"/>
                <a:ext cx="50277" cy="1948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6"/>
              <p:cNvSpPr/>
              <p:nvPr/>
            </p:nvSpPr>
            <p:spPr>
              <a:xfrm>
                <a:off x="1146927" y="5338713"/>
                <a:ext cx="50277" cy="1948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21" name="Google Shape;221;p6"/>
            <p:cNvGrpSpPr/>
            <p:nvPr/>
          </p:nvGrpSpPr>
          <p:grpSpPr>
            <a:xfrm>
              <a:off x="1043544" y="5797389"/>
              <a:ext cx="287258" cy="277339"/>
              <a:chOff x="1043544" y="5797389"/>
              <a:chExt cx="287258" cy="277339"/>
            </a:xfrm>
          </p:grpSpPr>
          <p:grpSp>
            <p:nvGrpSpPr>
              <p:cNvPr id="222" name="Google Shape;222;p6"/>
              <p:cNvGrpSpPr/>
              <p:nvPr/>
            </p:nvGrpSpPr>
            <p:grpSpPr>
              <a:xfrm>
                <a:off x="1059724" y="5797389"/>
                <a:ext cx="237266" cy="277339"/>
                <a:chOff x="1059724" y="5797389"/>
                <a:chExt cx="237266" cy="277339"/>
              </a:xfrm>
            </p:grpSpPr>
            <p:sp>
              <p:nvSpPr>
                <p:cNvPr id="223" name="Google Shape;223;p6"/>
                <p:cNvSpPr/>
                <p:nvPr/>
              </p:nvSpPr>
              <p:spPr>
                <a:xfrm>
                  <a:off x="1078994" y="5856732"/>
                  <a:ext cx="217996" cy="217996"/>
                </a:xfrm>
                <a:prstGeom prst="ellipse">
                  <a:avLst/>
                </a:prstGeom>
                <a:no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24" name="Google Shape;224;p6"/>
                <p:cNvGrpSpPr/>
                <p:nvPr/>
              </p:nvGrpSpPr>
              <p:grpSpPr>
                <a:xfrm>
                  <a:off x="1059724" y="5797389"/>
                  <a:ext cx="118633" cy="213866"/>
                  <a:chOff x="1059724" y="5797389"/>
                  <a:chExt cx="118633" cy="213866"/>
                </a:xfrm>
              </p:grpSpPr>
              <p:sp>
                <p:nvSpPr>
                  <p:cNvPr id="225" name="Google Shape;225;p6"/>
                  <p:cNvSpPr/>
                  <p:nvPr/>
                </p:nvSpPr>
                <p:spPr>
                  <a:xfrm>
                    <a:off x="1059724" y="5904322"/>
                    <a:ext cx="107253" cy="106933"/>
                  </a:xfrm>
                  <a:prstGeom prst="rect">
                    <a:avLst/>
                  </a:prstGeom>
                  <a:solidFill>
                    <a:srgbClr val="1817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6"/>
                  <p:cNvSpPr/>
                  <p:nvPr/>
                </p:nvSpPr>
                <p:spPr>
                  <a:xfrm>
                    <a:off x="1071104" y="5797389"/>
                    <a:ext cx="107253" cy="106933"/>
                  </a:xfrm>
                  <a:prstGeom prst="rect">
                    <a:avLst/>
                  </a:prstGeom>
                  <a:solidFill>
                    <a:srgbClr val="1817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27" name="Google Shape;227;p6"/>
                <p:cNvSpPr/>
                <p:nvPr/>
              </p:nvSpPr>
              <p:spPr>
                <a:xfrm rot="-5400000">
                  <a:off x="1085873" y="5811157"/>
                  <a:ext cx="98694" cy="95874"/>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28" name="Google Shape;228;p6"/>
              <p:cNvSpPr txBox="1"/>
              <p:nvPr/>
            </p:nvSpPr>
            <p:spPr>
              <a:xfrm>
                <a:off x="1043544" y="5856732"/>
                <a:ext cx="28725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800" b="1">
                    <a:solidFill>
                      <a:schemeClr val="lt1"/>
                    </a:solidFill>
                    <a:latin typeface="Calibri"/>
                    <a:ea typeface="Calibri"/>
                    <a:cs typeface="Calibri"/>
                    <a:sym typeface="Calibri"/>
                  </a:rPr>
                  <a:t>10</a:t>
                </a:r>
                <a:endParaRPr/>
              </a:p>
            </p:txBody>
          </p:sp>
        </p:grpSp>
      </p:grpSp>
      <p:sp>
        <p:nvSpPr>
          <p:cNvPr id="229" name="Google Shape;229;p6"/>
          <p:cNvSpPr txBox="1"/>
          <p:nvPr/>
        </p:nvSpPr>
        <p:spPr>
          <a:xfrm>
            <a:off x="10756587" y="5919610"/>
            <a:ext cx="1005840" cy="38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Lato Light"/>
                <a:ea typeface="Lato Light"/>
                <a:cs typeface="Lato Light"/>
                <a:sym typeface="Lato Light"/>
              </a:rPr>
              <a:t>20 : 00</a:t>
            </a:r>
            <a:endParaRPr/>
          </a:p>
        </p:txBody>
      </p:sp>
      <p:grpSp>
        <p:nvGrpSpPr>
          <p:cNvPr id="230" name="Google Shape;230;p6"/>
          <p:cNvGrpSpPr/>
          <p:nvPr/>
        </p:nvGrpSpPr>
        <p:grpSpPr>
          <a:xfrm>
            <a:off x="2347864" y="1431108"/>
            <a:ext cx="481172" cy="156459"/>
            <a:chOff x="10780016" y="1207681"/>
            <a:chExt cx="742064" cy="241291"/>
          </a:xfrm>
        </p:grpSpPr>
        <p:sp>
          <p:nvSpPr>
            <p:cNvPr id="231" name="Google Shape;231;p6"/>
            <p:cNvSpPr/>
            <p:nvPr/>
          </p:nvSpPr>
          <p:spPr>
            <a:xfrm>
              <a:off x="10780016" y="1228782"/>
              <a:ext cx="268058" cy="220190"/>
            </a:xfrm>
            <a:prstGeom prst="hear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6"/>
            <p:cNvSpPr/>
            <p:nvPr/>
          </p:nvSpPr>
          <p:spPr>
            <a:xfrm>
              <a:off x="11280789" y="1207681"/>
              <a:ext cx="241291" cy="241291"/>
            </a:xfrm>
            <a:prstGeom prst="plus">
              <a:avLst>
                <a:gd name="adj" fmla="val 37308"/>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33" name="Google Shape;233;p6"/>
          <p:cNvSpPr txBox="1"/>
          <p:nvPr/>
        </p:nvSpPr>
        <p:spPr>
          <a:xfrm>
            <a:off x="521104" y="990844"/>
            <a:ext cx="220765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b="1" dirty="0">
                <a:solidFill>
                  <a:schemeClr val="lt1"/>
                </a:solidFill>
                <a:latin typeface="Century Gothic"/>
                <a:ea typeface="Century Gothic"/>
                <a:cs typeface="Century Gothic"/>
                <a:sym typeface="Century Gothic"/>
              </a:rPr>
              <a:t>CAPÍTULO 1</a:t>
            </a:r>
            <a:endParaRPr sz="2000" b="1" dirty="0">
              <a:solidFill>
                <a:schemeClr val="lt1"/>
              </a:solidFill>
              <a:latin typeface="Century Gothic"/>
              <a:ea typeface="Century Gothic"/>
              <a:cs typeface="Century Gothic"/>
              <a:sym typeface="Century Gothic"/>
            </a:endParaRPr>
          </a:p>
        </p:txBody>
      </p:sp>
      <p:sp>
        <p:nvSpPr>
          <p:cNvPr id="234" name="Google Shape;234;p6"/>
          <p:cNvSpPr txBox="1"/>
          <p:nvPr/>
        </p:nvSpPr>
        <p:spPr>
          <a:xfrm>
            <a:off x="521104" y="1340061"/>
            <a:ext cx="182934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600" dirty="0" err="1">
                <a:solidFill>
                  <a:schemeClr val="lt1"/>
                </a:solidFill>
                <a:latin typeface="Calibri"/>
                <a:ea typeface="Calibri"/>
                <a:cs typeface="Calibri"/>
                <a:sym typeface="Calibri"/>
              </a:rPr>
              <a:t>Season</a:t>
            </a:r>
            <a:r>
              <a:rPr lang="pt-BR" sz="1600" dirty="0">
                <a:solidFill>
                  <a:schemeClr val="lt1"/>
                </a:solidFill>
                <a:latin typeface="Calibri"/>
                <a:ea typeface="Calibri"/>
                <a:cs typeface="Calibri"/>
                <a:sym typeface="Calibri"/>
              </a:rPr>
              <a:t> 1: </a:t>
            </a:r>
            <a:r>
              <a:rPr lang="pt-BR" sz="1600" dirty="0" err="1">
                <a:solidFill>
                  <a:schemeClr val="lt1"/>
                </a:solidFill>
                <a:latin typeface="Calibri"/>
                <a:ea typeface="Calibri"/>
                <a:cs typeface="Calibri"/>
                <a:sym typeface="Calibri"/>
              </a:rPr>
              <a:t>Episode</a:t>
            </a:r>
            <a:r>
              <a:rPr lang="pt-BR" sz="1600" dirty="0">
                <a:solidFill>
                  <a:schemeClr val="lt1"/>
                </a:solidFill>
                <a:latin typeface="Calibri"/>
                <a:ea typeface="Calibri"/>
                <a:cs typeface="Calibri"/>
                <a:sym typeface="Calibri"/>
              </a:rPr>
              <a:t> 1</a:t>
            </a:r>
            <a:endParaRPr dirty="0"/>
          </a:p>
        </p:txBody>
      </p:sp>
      <p:pic>
        <p:nvPicPr>
          <p:cNvPr id="235" name="Google Shape;235;p6" descr="Uma imagem contendo objeto, relógio, laranja, trem&#10;&#10;Descrição gerada automaticamente"/>
          <p:cNvPicPr preferRelativeResize="0"/>
          <p:nvPr/>
        </p:nvPicPr>
        <p:blipFill rotWithShape="1">
          <a:blip r:embed="rId4">
            <a:alphaModFix/>
          </a:blip>
          <a:srcRect/>
          <a:stretch/>
        </p:blipFill>
        <p:spPr>
          <a:xfrm>
            <a:off x="413645" y="128016"/>
            <a:ext cx="1864519" cy="633110"/>
          </a:xfrm>
          <a:prstGeom prst="rect">
            <a:avLst/>
          </a:prstGeom>
          <a:noFill/>
          <a:ln>
            <a:noFill/>
          </a:ln>
        </p:spPr>
      </p:pic>
      <p:sp>
        <p:nvSpPr>
          <p:cNvPr id="236" name="Google Shape;236;p6"/>
          <p:cNvSpPr txBox="1"/>
          <p:nvPr/>
        </p:nvSpPr>
        <p:spPr>
          <a:xfrm>
            <a:off x="2487371" y="301443"/>
            <a:ext cx="69865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Início     Filmes     Séries     Minha Lista </a:t>
            </a:r>
            <a:endParaRPr/>
          </a:p>
        </p:txBody>
      </p:sp>
      <p:pic>
        <p:nvPicPr>
          <p:cNvPr id="237" name="Google Shape;237;p6" descr="Ícone&#10;&#10;Descrição gerada automaticamente"/>
          <p:cNvPicPr preferRelativeResize="0"/>
          <p:nvPr/>
        </p:nvPicPr>
        <p:blipFill rotWithShape="1">
          <a:blip r:embed="rId5">
            <a:alphaModFix/>
          </a:blip>
          <a:srcRect/>
          <a:stretch/>
        </p:blipFill>
        <p:spPr>
          <a:xfrm>
            <a:off x="9880255" y="331280"/>
            <a:ext cx="459581" cy="459581"/>
          </a:xfrm>
          <a:prstGeom prst="rect">
            <a:avLst/>
          </a:prstGeom>
          <a:noFill/>
          <a:ln>
            <a:noFill/>
          </a:ln>
        </p:spPr>
      </p:pic>
      <p:sp>
        <p:nvSpPr>
          <p:cNvPr id="238" name="Google Shape;238;p6"/>
          <p:cNvSpPr txBox="1"/>
          <p:nvPr/>
        </p:nvSpPr>
        <p:spPr>
          <a:xfrm>
            <a:off x="8791566" y="331280"/>
            <a:ext cx="12666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Pesquisar</a:t>
            </a:r>
            <a:r>
              <a:rPr lang="pt-BR" sz="1800">
                <a:solidFill>
                  <a:schemeClr val="lt1"/>
                </a:solidFill>
                <a:latin typeface="Lato Light"/>
                <a:ea typeface="Lato Light"/>
                <a:cs typeface="Lato Light"/>
                <a:sym typeface="Lato Light"/>
              </a:rPr>
              <a:t> </a:t>
            </a:r>
            <a:endParaRPr/>
          </a:p>
        </p:txBody>
      </p:sp>
      <p:grpSp>
        <p:nvGrpSpPr>
          <p:cNvPr id="239" name="Google Shape;239;p6"/>
          <p:cNvGrpSpPr/>
          <p:nvPr/>
        </p:nvGrpSpPr>
        <p:grpSpPr>
          <a:xfrm>
            <a:off x="10120329" y="273308"/>
            <a:ext cx="1693635" cy="369332"/>
            <a:chOff x="9828445" y="385086"/>
            <a:chExt cx="1693635" cy="369332"/>
          </a:xfrm>
        </p:grpSpPr>
        <p:sp>
          <p:nvSpPr>
            <p:cNvPr id="240" name="Google Shape;240;p6"/>
            <p:cNvSpPr txBox="1"/>
            <p:nvPr/>
          </p:nvSpPr>
          <p:spPr>
            <a:xfrm>
              <a:off x="9828445" y="385086"/>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p6"/>
            <p:cNvSpPr/>
            <p:nvPr/>
          </p:nvSpPr>
          <p:spPr>
            <a:xfrm rot="10800000" flipH="1">
              <a:off x="11351815" y="535451"/>
              <a:ext cx="170265" cy="14677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242" name="Google Shape;242;p6" descr="Desenho de personagem de desenho animado&#10;&#10;Descrição gerada automaticamente com confiança média"/>
          <p:cNvPicPr preferRelativeResize="0"/>
          <p:nvPr/>
        </p:nvPicPr>
        <p:blipFill rotWithShape="1">
          <a:blip r:embed="rId6">
            <a:alphaModFix/>
          </a:blip>
          <a:srcRect/>
          <a:stretch/>
        </p:blipFill>
        <p:spPr>
          <a:xfrm>
            <a:off x="11185062" y="326916"/>
            <a:ext cx="300935" cy="305234"/>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43" name="Google Shape;243;p6"/>
          <p:cNvSpPr/>
          <p:nvPr/>
        </p:nvSpPr>
        <p:spPr>
          <a:xfrm>
            <a:off x="529198" y="2153751"/>
            <a:ext cx="10443601" cy="203128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pt-BR" dirty="0">
                <a:solidFill>
                  <a:schemeClr val="bg1"/>
                </a:solidFill>
                <a:effectLst/>
                <a:latin typeface="Century Gothic" panose="020B0502020202020204" pitchFamily="34" charset="0"/>
                <a:ea typeface="Calibri" panose="020F0502020204030204" pitchFamily="34" charset="0"/>
              </a:rPr>
              <a:t>Além de reunir informações sobre artistas e produções, o site também permite que usuários criem listas e avaliem seus filmes favoritos. A avaliação é feita em uma escala de 1 a 10, representa por estrelas. Os votos individuais são agrupados e resumidos em uma nota única, exibida com destaque na página principal do título. Além de reunir informações sobre artistas e produções, o site também permite que usuários criem listas e avaliem seus filmes favoritos.</a:t>
            </a:r>
          </a:p>
          <a:p>
            <a:pPr marL="0" marR="0" lvl="0" indent="0" algn="just" rtl="0">
              <a:spcBef>
                <a:spcPts val="0"/>
              </a:spcBef>
              <a:spcAft>
                <a:spcPts val="0"/>
              </a:spcAft>
              <a:buNone/>
            </a:pPr>
            <a:endParaRPr lang="pt-BR" dirty="0">
              <a:solidFill>
                <a:schemeClr val="bg1"/>
              </a:solidFill>
              <a:latin typeface="Century Gothic" panose="020B0502020202020204" pitchFamily="34" charset="0"/>
            </a:endParaRPr>
          </a:p>
          <a:p>
            <a:pPr algn="just"/>
            <a:r>
              <a:rPr lang="pt-BR" dirty="0">
                <a:solidFill>
                  <a:schemeClr val="bg1"/>
                </a:solidFill>
                <a:effectLst/>
                <a:latin typeface="Century Gothic" panose="020B0502020202020204" pitchFamily="34" charset="0"/>
                <a:ea typeface="Calibri" panose="020F0502020204030204" pitchFamily="34" charset="0"/>
                <a:cs typeface="Times New Roman" panose="02020603050405020304" pitchFamily="18" charset="0"/>
              </a:rPr>
              <a:t>A nota </a:t>
            </a:r>
            <a:r>
              <a:rPr lang="pt-BR" dirty="0" err="1">
                <a:solidFill>
                  <a:schemeClr val="bg1"/>
                </a:solidFill>
                <a:effectLst/>
                <a:latin typeface="Century Gothic" panose="020B0502020202020204" pitchFamily="34" charset="0"/>
                <a:ea typeface="Calibri" panose="020F0502020204030204" pitchFamily="34" charset="0"/>
                <a:cs typeface="Times New Roman" panose="02020603050405020304" pitchFamily="18" charset="0"/>
              </a:rPr>
              <a:t>IMDb</a:t>
            </a:r>
            <a:r>
              <a:rPr lang="pt-BR" dirty="0">
                <a:solidFill>
                  <a:schemeClr val="bg1"/>
                </a:solidFill>
                <a:effectLst/>
                <a:latin typeface="Century Gothic" panose="020B0502020202020204" pitchFamily="34" charset="0"/>
                <a:ea typeface="Calibri" panose="020F0502020204030204" pitchFamily="34" charset="0"/>
                <a:cs typeface="Times New Roman" panose="02020603050405020304" pitchFamily="18" charset="0"/>
              </a:rPr>
              <a:t> de cada título é atualizada várias vezes ao dia. No caso das séries de TV, elas são avaliadas como um todo pelos usuários, ou seja, sua nota não é uma média das avaliações dos episódios do programa.</a:t>
            </a:r>
          </a:p>
          <a:p>
            <a:pPr marL="0" marR="0" lvl="0" indent="0" algn="just" rtl="0">
              <a:spcBef>
                <a:spcPts val="0"/>
              </a:spcBef>
              <a:spcAft>
                <a:spcPts val="0"/>
              </a:spcAft>
              <a:buNone/>
            </a:pPr>
            <a:endParaRPr lang="pt-BR" dirty="0">
              <a:solidFill>
                <a:schemeClr val="bg1"/>
              </a:solidFill>
              <a:latin typeface="Century Gothic" panose="020B0502020202020204" pitchFamily="34" charset="0"/>
            </a:endParaRPr>
          </a:p>
          <a:p>
            <a:pPr marL="0" marR="0" lvl="0" indent="0" algn="just" rtl="0">
              <a:spcBef>
                <a:spcPts val="0"/>
              </a:spcBef>
              <a:spcAft>
                <a:spcPts val="0"/>
              </a:spcAft>
              <a:buNone/>
            </a:pPr>
            <a:endParaRPr lang="pt-BR"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2513542405"/>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4" name="Imagem 3">
            <a:extLst>
              <a:ext uri="{FF2B5EF4-FFF2-40B4-BE49-F238E27FC236}">
                <a16:creationId xmlns:a16="http://schemas.microsoft.com/office/drawing/2014/main" id="{209DBB82-05AA-DFCA-3DF3-EF29FFE29737}"/>
              </a:ext>
            </a:extLst>
          </p:cNvPr>
          <p:cNvPicPr>
            <a:picLocks noChangeAspect="1"/>
          </p:cNvPicPr>
          <p:nvPr/>
        </p:nvPicPr>
        <p:blipFill>
          <a:blip r:embed="rId3"/>
          <a:stretch>
            <a:fillRect/>
          </a:stretch>
        </p:blipFill>
        <p:spPr>
          <a:xfrm>
            <a:off x="0" y="0"/>
            <a:ext cx="12192000" cy="6858000"/>
          </a:xfrm>
          <a:prstGeom prst="rect">
            <a:avLst/>
          </a:prstGeom>
        </p:spPr>
      </p:pic>
      <p:sp>
        <p:nvSpPr>
          <p:cNvPr id="212" name="Google Shape;212;p6"/>
          <p:cNvSpPr/>
          <p:nvPr/>
        </p:nvSpPr>
        <p:spPr>
          <a:xfrm>
            <a:off x="35998" y="17610"/>
            <a:ext cx="12192000" cy="6858000"/>
          </a:xfrm>
          <a:prstGeom prst="rect">
            <a:avLst/>
          </a:prstGeom>
          <a:gradFill>
            <a:gsLst>
              <a:gs pos="0">
                <a:schemeClr val="dk1"/>
              </a:gs>
              <a:gs pos="9000">
                <a:srgbClr val="000000"/>
              </a:gs>
              <a:gs pos="72000">
                <a:srgbClr val="000000">
                  <a:alpha val="31764"/>
                </a:srgbClr>
              </a:gs>
              <a:gs pos="100000">
                <a:srgbClr val="000000">
                  <a:alpha val="31764"/>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13" name="Google Shape;213;p6"/>
          <p:cNvGrpSpPr/>
          <p:nvPr/>
        </p:nvGrpSpPr>
        <p:grpSpPr>
          <a:xfrm>
            <a:off x="718131" y="5868884"/>
            <a:ext cx="11102042" cy="454257"/>
            <a:chOff x="508288" y="5715000"/>
            <a:chExt cx="11173968" cy="457200"/>
          </a:xfrm>
        </p:grpSpPr>
        <p:sp>
          <p:nvSpPr>
            <p:cNvPr id="214" name="Google Shape;214;p6"/>
            <p:cNvSpPr/>
            <p:nvPr/>
          </p:nvSpPr>
          <p:spPr>
            <a:xfrm>
              <a:off x="508288" y="5715000"/>
              <a:ext cx="11173968" cy="457200"/>
            </a:xfrm>
            <a:prstGeom prst="roundRect">
              <a:avLst>
                <a:gd name="adj" fmla="val 50000"/>
              </a:avLst>
            </a:prstGeom>
            <a:solidFill>
              <a:srgbClr val="181717">
                <a:alpha val="7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215" name="Google Shape;215;p6"/>
            <p:cNvCxnSpPr/>
            <p:nvPr/>
          </p:nvCxnSpPr>
          <p:spPr>
            <a:xfrm>
              <a:off x="1447800" y="5943600"/>
              <a:ext cx="9124950" cy="0"/>
            </a:xfrm>
            <a:prstGeom prst="straightConnector1">
              <a:avLst/>
            </a:prstGeom>
            <a:noFill/>
            <a:ln w="47625" cap="flat" cmpd="sng">
              <a:solidFill>
                <a:schemeClr val="lt1"/>
              </a:solidFill>
              <a:prstDash val="solid"/>
              <a:miter lim="800000"/>
              <a:headEnd type="none" w="sm" len="sm"/>
              <a:tailEnd type="none" w="sm" len="sm"/>
            </a:ln>
          </p:spPr>
        </p:cxnSp>
        <p:cxnSp>
          <p:nvCxnSpPr>
            <p:cNvPr id="216" name="Google Shape;216;p6"/>
            <p:cNvCxnSpPr/>
            <p:nvPr/>
          </p:nvCxnSpPr>
          <p:spPr>
            <a:xfrm>
              <a:off x="1447800" y="5943601"/>
              <a:ext cx="2840719" cy="0"/>
            </a:xfrm>
            <a:prstGeom prst="straightConnector1">
              <a:avLst/>
            </a:prstGeom>
            <a:noFill/>
            <a:ln w="47625" cap="flat" cmpd="sng">
              <a:solidFill>
                <a:srgbClr val="A80000"/>
              </a:solidFill>
              <a:prstDash val="solid"/>
              <a:miter lim="800000"/>
              <a:headEnd type="none" w="sm" len="sm"/>
              <a:tailEnd type="none" w="sm" len="sm"/>
            </a:ln>
          </p:spPr>
        </p:cxnSp>
        <p:sp>
          <p:nvSpPr>
            <p:cNvPr id="217" name="Google Shape;217;p6"/>
            <p:cNvSpPr/>
            <p:nvPr/>
          </p:nvSpPr>
          <p:spPr>
            <a:xfrm>
              <a:off x="4212313" y="5856732"/>
              <a:ext cx="173736" cy="17373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18" name="Google Shape;218;p6"/>
            <p:cNvGrpSpPr/>
            <p:nvPr/>
          </p:nvGrpSpPr>
          <p:grpSpPr>
            <a:xfrm>
              <a:off x="770654" y="5846189"/>
              <a:ext cx="138260" cy="194821"/>
              <a:chOff x="1058944" y="5338713"/>
              <a:chExt cx="138260" cy="194821"/>
            </a:xfrm>
          </p:grpSpPr>
          <p:sp>
            <p:nvSpPr>
              <p:cNvPr id="219" name="Google Shape;219;p6"/>
              <p:cNvSpPr/>
              <p:nvPr/>
            </p:nvSpPr>
            <p:spPr>
              <a:xfrm>
                <a:off x="1058944" y="5338713"/>
                <a:ext cx="50277" cy="1948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6"/>
              <p:cNvSpPr/>
              <p:nvPr/>
            </p:nvSpPr>
            <p:spPr>
              <a:xfrm>
                <a:off x="1146927" y="5338713"/>
                <a:ext cx="50277" cy="19482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grpSp>
          <p:nvGrpSpPr>
            <p:cNvPr id="221" name="Google Shape;221;p6"/>
            <p:cNvGrpSpPr/>
            <p:nvPr/>
          </p:nvGrpSpPr>
          <p:grpSpPr>
            <a:xfrm>
              <a:off x="1043544" y="5797389"/>
              <a:ext cx="287258" cy="277339"/>
              <a:chOff x="1043544" y="5797389"/>
              <a:chExt cx="287258" cy="277339"/>
            </a:xfrm>
          </p:grpSpPr>
          <p:grpSp>
            <p:nvGrpSpPr>
              <p:cNvPr id="222" name="Google Shape;222;p6"/>
              <p:cNvGrpSpPr/>
              <p:nvPr/>
            </p:nvGrpSpPr>
            <p:grpSpPr>
              <a:xfrm>
                <a:off x="1059724" y="5797389"/>
                <a:ext cx="237266" cy="277339"/>
                <a:chOff x="1059724" y="5797389"/>
                <a:chExt cx="237266" cy="277339"/>
              </a:xfrm>
            </p:grpSpPr>
            <p:sp>
              <p:nvSpPr>
                <p:cNvPr id="223" name="Google Shape;223;p6"/>
                <p:cNvSpPr/>
                <p:nvPr/>
              </p:nvSpPr>
              <p:spPr>
                <a:xfrm>
                  <a:off x="1078994" y="5856732"/>
                  <a:ext cx="217996" cy="217996"/>
                </a:xfrm>
                <a:prstGeom prst="ellipse">
                  <a:avLst/>
                </a:prstGeom>
                <a:noFill/>
                <a:ln w="381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24" name="Google Shape;224;p6"/>
                <p:cNvGrpSpPr/>
                <p:nvPr/>
              </p:nvGrpSpPr>
              <p:grpSpPr>
                <a:xfrm>
                  <a:off x="1059724" y="5797389"/>
                  <a:ext cx="118633" cy="213866"/>
                  <a:chOff x="1059724" y="5797389"/>
                  <a:chExt cx="118633" cy="213866"/>
                </a:xfrm>
              </p:grpSpPr>
              <p:sp>
                <p:nvSpPr>
                  <p:cNvPr id="225" name="Google Shape;225;p6"/>
                  <p:cNvSpPr/>
                  <p:nvPr/>
                </p:nvSpPr>
                <p:spPr>
                  <a:xfrm>
                    <a:off x="1059724" y="5904322"/>
                    <a:ext cx="107253" cy="106933"/>
                  </a:xfrm>
                  <a:prstGeom prst="rect">
                    <a:avLst/>
                  </a:prstGeom>
                  <a:solidFill>
                    <a:srgbClr val="1817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6"/>
                  <p:cNvSpPr/>
                  <p:nvPr/>
                </p:nvSpPr>
                <p:spPr>
                  <a:xfrm>
                    <a:off x="1071104" y="5797389"/>
                    <a:ext cx="107253" cy="106933"/>
                  </a:xfrm>
                  <a:prstGeom prst="rect">
                    <a:avLst/>
                  </a:prstGeom>
                  <a:solidFill>
                    <a:srgbClr val="18171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27" name="Google Shape;227;p6"/>
                <p:cNvSpPr/>
                <p:nvPr/>
              </p:nvSpPr>
              <p:spPr>
                <a:xfrm rot="-5400000">
                  <a:off x="1085873" y="5811157"/>
                  <a:ext cx="98694" cy="95874"/>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28" name="Google Shape;228;p6"/>
              <p:cNvSpPr txBox="1"/>
              <p:nvPr/>
            </p:nvSpPr>
            <p:spPr>
              <a:xfrm>
                <a:off x="1043544" y="5856732"/>
                <a:ext cx="287258"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800" b="1">
                    <a:solidFill>
                      <a:schemeClr val="lt1"/>
                    </a:solidFill>
                    <a:latin typeface="Calibri"/>
                    <a:ea typeface="Calibri"/>
                    <a:cs typeface="Calibri"/>
                    <a:sym typeface="Calibri"/>
                  </a:rPr>
                  <a:t>10</a:t>
                </a:r>
                <a:endParaRPr/>
              </a:p>
            </p:txBody>
          </p:sp>
        </p:grpSp>
      </p:grpSp>
      <p:sp>
        <p:nvSpPr>
          <p:cNvPr id="229" name="Google Shape;229;p6"/>
          <p:cNvSpPr txBox="1"/>
          <p:nvPr/>
        </p:nvSpPr>
        <p:spPr>
          <a:xfrm>
            <a:off x="10756587" y="5919610"/>
            <a:ext cx="1005840" cy="38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Lato Light"/>
                <a:ea typeface="Lato Light"/>
                <a:cs typeface="Lato Light"/>
                <a:sym typeface="Lato Light"/>
              </a:rPr>
              <a:t>20 : 00</a:t>
            </a:r>
            <a:endParaRPr/>
          </a:p>
        </p:txBody>
      </p:sp>
      <p:grpSp>
        <p:nvGrpSpPr>
          <p:cNvPr id="230" name="Google Shape;230;p6"/>
          <p:cNvGrpSpPr/>
          <p:nvPr/>
        </p:nvGrpSpPr>
        <p:grpSpPr>
          <a:xfrm>
            <a:off x="2347864" y="1431108"/>
            <a:ext cx="481172" cy="156459"/>
            <a:chOff x="10780016" y="1207681"/>
            <a:chExt cx="742064" cy="241291"/>
          </a:xfrm>
        </p:grpSpPr>
        <p:sp>
          <p:nvSpPr>
            <p:cNvPr id="231" name="Google Shape;231;p6"/>
            <p:cNvSpPr/>
            <p:nvPr/>
          </p:nvSpPr>
          <p:spPr>
            <a:xfrm>
              <a:off x="10780016" y="1228782"/>
              <a:ext cx="268058" cy="220190"/>
            </a:xfrm>
            <a:prstGeom prst="hear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6"/>
            <p:cNvSpPr/>
            <p:nvPr/>
          </p:nvSpPr>
          <p:spPr>
            <a:xfrm>
              <a:off x="11280789" y="1207681"/>
              <a:ext cx="241291" cy="241291"/>
            </a:xfrm>
            <a:prstGeom prst="plus">
              <a:avLst>
                <a:gd name="adj" fmla="val 37308"/>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33" name="Google Shape;233;p6"/>
          <p:cNvSpPr txBox="1"/>
          <p:nvPr/>
        </p:nvSpPr>
        <p:spPr>
          <a:xfrm>
            <a:off x="521104" y="990844"/>
            <a:ext cx="220765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2000" b="1" dirty="0">
                <a:solidFill>
                  <a:schemeClr val="lt1"/>
                </a:solidFill>
                <a:latin typeface="Century Gothic"/>
                <a:ea typeface="Century Gothic"/>
                <a:cs typeface="Century Gothic"/>
                <a:sym typeface="Century Gothic"/>
              </a:rPr>
              <a:t>CAPÍTULO 2</a:t>
            </a:r>
            <a:endParaRPr sz="2000" b="1" dirty="0">
              <a:solidFill>
                <a:schemeClr val="lt1"/>
              </a:solidFill>
              <a:latin typeface="Century Gothic"/>
              <a:ea typeface="Century Gothic"/>
              <a:cs typeface="Century Gothic"/>
              <a:sym typeface="Century Gothic"/>
            </a:endParaRPr>
          </a:p>
        </p:txBody>
      </p:sp>
      <p:sp>
        <p:nvSpPr>
          <p:cNvPr id="234" name="Google Shape;234;p6"/>
          <p:cNvSpPr txBox="1"/>
          <p:nvPr/>
        </p:nvSpPr>
        <p:spPr>
          <a:xfrm>
            <a:off x="521104" y="1340061"/>
            <a:ext cx="182934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600">
                <a:solidFill>
                  <a:schemeClr val="lt1"/>
                </a:solidFill>
                <a:latin typeface="Calibri"/>
                <a:ea typeface="Calibri"/>
                <a:cs typeface="Calibri"/>
                <a:sym typeface="Calibri"/>
              </a:rPr>
              <a:t>Season 1: Episode 2</a:t>
            </a:r>
            <a:endParaRPr/>
          </a:p>
        </p:txBody>
      </p:sp>
      <p:pic>
        <p:nvPicPr>
          <p:cNvPr id="235" name="Google Shape;235;p6" descr="Uma imagem contendo objeto, relógio, laranja, trem&#10;&#10;Descrição gerada automaticamente"/>
          <p:cNvPicPr preferRelativeResize="0"/>
          <p:nvPr/>
        </p:nvPicPr>
        <p:blipFill rotWithShape="1">
          <a:blip r:embed="rId4">
            <a:alphaModFix/>
          </a:blip>
          <a:srcRect/>
          <a:stretch/>
        </p:blipFill>
        <p:spPr>
          <a:xfrm>
            <a:off x="413645" y="128016"/>
            <a:ext cx="1864519" cy="633110"/>
          </a:xfrm>
          <a:prstGeom prst="rect">
            <a:avLst/>
          </a:prstGeom>
          <a:noFill/>
          <a:ln>
            <a:noFill/>
          </a:ln>
        </p:spPr>
      </p:pic>
      <p:sp>
        <p:nvSpPr>
          <p:cNvPr id="236" name="Google Shape;236;p6"/>
          <p:cNvSpPr txBox="1"/>
          <p:nvPr/>
        </p:nvSpPr>
        <p:spPr>
          <a:xfrm>
            <a:off x="2487371" y="301443"/>
            <a:ext cx="69865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Início     Filmes     Séries     Minha Lista </a:t>
            </a:r>
            <a:endParaRPr/>
          </a:p>
        </p:txBody>
      </p:sp>
      <p:pic>
        <p:nvPicPr>
          <p:cNvPr id="237" name="Google Shape;237;p6" descr="Ícone&#10;&#10;Descrição gerada automaticamente"/>
          <p:cNvPicPr preferRelativeResize="0"/>
          <p:nvPr/>
        </p:nvPicPr>
        <p:blipFill rotWithShape="1">
          <a:blip r:embed="rId5">
            <a:alphaModFix/>
          </a:blip>
          <a:srcRect/>
          <a:stretch/>
        </p:blipFill>
        <p:spPr>
          <a:xfrm>
            <a:off x="9880255" y="331280"/>
            <a:ext cx="459581" cy="459581"/>
          </a:xfrm>
          <a:prstGeom prst="rect">
            <a:avLst/>
          </a:prstGeom>
          <a:noFill/>
          <a:ln>
            <a:noFill/>
          </a:ln>
        </p:spPr>
      </p:pic>
      <p:sp>
        <p:nvSpPr>
          <p:cNvPr id="238" name="Google Shape;238;p6"/>
          <p:cNvSpPr txBox="1"/>
          <p:nvPr/>
        </p:nvSpPr>
        <p:spPr>
          <a:xfrm>
            <a:off x="8791566" y="331280"/>
            <a:ext cx="126669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Pesquisar</a:t>
            </a:r>
            <a:r>
              <a:rPr lang="pt-BR" sz="1800">
                <a:solidFill>
                  <a:schemeClr val="lt1"/>
                </a:solidFill>
                <a:latin typeface="Lato Light"/>
                <a:ea typeface="Lato Light"/>
                <a:cs typeface="Lato Light"/>
                <a:sym typeface="Lato Light"/>
              </a:rPr>
              <a:t> </a:t>
            </a:r>
            <a:endParaRPr/>
          </a:p>
        </p:txBody>
      </p:sp>
      <p:grpSp>
        <p:nvGrpSpPr>
          <p:cNvPr id="239" name="Google Shape;239;p6"/>
          <p:cNvGrpSpPr/>
          <p:nvPr/>
        </p:nvGrpSpPr>
        <p:grpSpPr>
          <a:xfrm>
            <a:off x="10120329" y="273308"/>
            <a:ext cx="1693635" cy="369332"/>
            <a:chOff x="9828445" y="385086"/>
            <a:chExt cx="1693635" cy="369332"/>
          </a:xfrm>
        </p:grpSpPr>
        <p:sp>
          <p:nvSpPr>
            <p:cNvPr id="240" name="Google Shape;240;p6"/>
            <p:cNvSpPr txBox="1"/>
            <p:nvPr/>
          </p:nvSpPr>
          <p:spPr>
            <a:xfrm>
              <a:off x="9828445" y="385086"/>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41" name="Google Shape;241;p6"/>
            <p:cNvSpPr/>
            <p:nvPr/>
          </p:nvSpPr>
          <p:spPr>
            <a:xfrm rot="10800000" flipH="1">
              <a:off x="11351815" y="535451"/>
              <a:ext cx="170265" cy="14677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242" name="Google Shape;242;p6" descr="Desenho de personagem de desenho animado&#10;&#10;Descrição gerada automaticamente com confiança média"/>
          <p:cNvPicPr preferRelativeResize="0"/>
          <p:nvPr/>
        </p:nvPicPr>
        <p:blipFill rotWithShape="1">
          <a:blip r:embed="rId6">
            <a:alphaModFix/>
          </a:blip>
          <a:srcRect/>
          <a:stretch/>
        </p:blipFill>
        <p:spPr>
          <a:xfrm>
            <a:off x="11185062" y="326916"/>
            <a:ext cx="300935" cy="305234"/>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43" name="Google Shape;243;p6"/>
          <p:cNvSpPr/>
          <p:nvPr/>
        </p:nvSpPr>
        <p:spPr>
          <a:xfrm>
            <a:off x="529198" y="2153751"/>
            <a:ext cx="10443601" cy="2031285"/>
          </a:xfrm>
          <a:prstGeom prst="rect">
            <a:avLst/>
          </a:prstGeom>
          <a:noFill/>
          <a:ln>
            <a:noFill/>
          </a:ln>
        </p:spPr>
        <p:txBody>
          <a:bodyPr spcFirstLastPara="1" wrap="square" lIns="91425" tIns="45700" rIns="91425" bIns="45700" anchor="t" anchorCtr="0">
            <a:spAutoFit/>
          </a:bodyPr>
          <a:lstStyle/>
          <a:p>
            <a:pPr algn="just"/>
            <a:r>
              <a:rPr lang="pt-BR" dirty="0">
                <a:solidFill>
                  <a:schemeClr val="bg1"/>
                </a:solidFill>
                <a:effectLst/>
                <a:latin typeface="Century Gothic" panose="020B0502020202020204" pitchFamily="34" charset="0"/>
                <a:ea typeface="Times New Roman" panose="02020603050405020304" pitchFamily="18" charset="0"/>
                <a:cs typeface="Times New Roman" panose="02020603050405020304" pitchFamily="18" charset="0"/>
              </a:rPr>
              <a:t>Nosso conjunto de dados estará incluído o título do filme, gênero do filme, data de estreia original, tempo de execução em minutos, pontuações do IMDB, a maioria com mais de 1.000 avaliações e idiomas atualmente disponíveis. Ressaltando que todas informações tanto de suas avaliações quanto de filmes, documentários ou especiais originais da Netflix lançados serão a partir de junho do ano de 2021.</a:t>
            </a:r>
            <a:r>
              <a:rPr lang="pt-BR" dirty="0">
                <a:solidFill>
                  <a:schemeClr val="bg1"/>
                </a:solidFill>
                <a:latin typeface="Century Gothic" panose="020B0502020202020204" pitchFamily="34" charset="0"/>
                <a:ea typeface="Times New Roman" panose="02020603050405020304" pitchFamily="18" charset="0"/>
                <a:cs typeface="Times New Roman" panose="02020603050405020304" pitchFamily="18" charset="0"/>
              </a:rPr>
              <a:t> </a:t>
            </a:r>
          </a:p>
          <a:p>
            <a:pPr algn="just"/>
            <a:endParaRPr lang="pt-BR" dirty="0">
              <a:solidFill>
                <a:schemeClr val="bg1"/>
              </a:solidFill>
              <a:effectLst/>
              <a:latin typeface="Century Gothic" panose="020B0502020202020204" pitchFamily="34" charset="0"/>
              <a:ea typeface="Calibri" panose="020F0502020204030204" pitchFamily="34" charset="0"/>
              <a:cs typeface="Times New Roman" panose="02020603050405020304" pitchFamily="18" charset="0"/>
            </a:endParaRPr>
          </a:p>
          <a:p>
            <a:pPr algn="just"/>
            <a:r>
              <a:rPr lang="pt-BR" dirty="0">
                <a:solidFill>
                  <a:schemeClr val="bg1"/>
                </a:solidFill>
                <a:effectLst/>
                <a:latin typeface="Century Gothic" panose="020B0502020202020204" pitchFamily="34" charset="0"/>
                <a:ea typeface="Calibri" panose="020F0502020204030204" pitchFamily="34" charset="0"/>
                <a:cs typeface="Times New Roman" panose="02020603050405020304" pitchFamily="18" charset="0"/>
              </a:rPr>
              <a:t>Concluindo, iremos integrar tais recomendações a um conjunto de dados contendo todas as pontuações correspondentes ao IMDB com a fim que o usuário navegue pela plataforma de uma forma mais assertiva e obtenha uma melhor experiência assistindo os filmes, documentários ou especiais originais da Netflix com as melhores avaliações.</a:t>
            </a:r>
          </a:p>
        </p:txBody>
      </p:sp>
    </p:spTree>
    <p:extLst>
      <p:ext uri="{BB962C8B-B14F-4D97-AF65-F5344CB8AC3E}">
        <p14:creationId xmlns:p14="http://schemas.microsoft.com/office/powerpoint/2010/main" val="2702891446"/>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pic>
        <p:nvPicPr>
          <p:cNvPr id="3" name="Imagem 2">
            <a:extLst>
              <a:ext uri="{FF2B5EF4-FFF2-40B4-BE49-F238E27FC236}">
                <a16:creationId xmlns:a16="http://schemas.microsoft.com/office/drawing/2014/main" id="{D6EB3B67-BCEC-89B5-E5D4-B2089A632617}"/>
              </a:ext>
            </a:extLst>
          </p:cNvPr>
          <p:cNvPicPr>
            <a:picLocks noChangeAspect="1"/>
          </p:cNvPicPr>
          <p:nvPr/>
        </p:nvPicPr>
        <p:blipFill>
          <a:blip r:embed="rId3"/>
          <a:stretch>
            <a:fillRect/>
          </a:stretch>
        </p:blipFill>
        <p:spPr>
          <a:xfrm>
            <a:off x="-2" y="-16118"/>
            <a:ext cx="12192001" cy="6874117"/>
          </a:xfrm>
          <a:prstGeom prst="rect">
            <a:avLst/>
          </a:prstGeom>
        </p:spPr>
      </p:pic>
      <p:sp>
        <p:nvSpPr>
          <p:cNvPr id="324" name="Google Shape;324;p9"/>
          <p:cNvSpPr/>
          <p:nvPr/>
        </p:nvSpPr>
        <p:spPr>
          <a:xfrm>
            <a:off x="0" y="-16118"/>
            <a:ext cx="12208946" cy="6874117"/>
          </a:xfrm>
          <a:prstGeom prst="rect">
            <a:avLst/>
          </a:prstGeom>
          <a:gradFill>
            <a:gsLst>
              <a:gs pos="0">
                <a:srgbClr val="3F3F3F">
                  <a:alpha val="33725"/>
                </a:srgbClr>
              </a:gs>
              <a:gs pos="100000">
                <a:srgbClr val="0C0C0C"/>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5" name="Google Shape;325;p9"/>
          <p:cNvSpPr txBox="1"/>
          <p:nvPr/>
        </p:nvSpPr>
        <p:spPr>
          <a:xfrm>
            <a:off x="1145814" y="2077110"/>
            <a:ext cx="991731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4800" b="1">
                <a:solidFill>
                  <a:schemeClr val="lt1"/>
                </a:solidFill>
                <a:latin typeface="Century Gothic"/>
                <a:ea typeface="Century Gothic"/>
                <a:cs typeface="Century Gothic"/>
                <a:sym typeface="Century Gothic"/>
              </a:rPr>
              <a:t>VOCÊ AINDA ESTÁ ASSISTINDO ?</a:t>
            </a:r>
            <a:endParaRPr/>
          </a:p>
        </p:txBody>
      </p:sp>
      <p:sp>
        <p:nvSpPr>
          <p:cNvPr id="326" name="Google Shape;326;p9"/>
          <p:cNvSpPr/>
          <p:nvPr/>
        </p:nvSpPr>
        <p:spPr>
          <a:xfrm>
            <a:off x="4282189" y="3059546"/>
            <a:ext cx="3627620" cy="488896"/>
          </a:xfrm>
          <a:prstGeom prst="rect">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pt-BR" sz="1800">
                <a:solidFill>
                  <a:schemeClr val="dk1"/>
                </a:solidFill>
                <a:latin typeface="Century Gothic"/>
                <a:ea typeface="Century Gothic"/>
                <a:cs typeface="Century Gothic"/>
                <a:sym typeface="Century Gothic"/>
              </a:rPr>
              <a:t>CONTINUAR ASSISTINDO </a:t>
            </a:r>
            <a:endParaRPr/>
          </a:p>
        </p:txBody>
      </p:sp>
      <p:sp>
        <p:nvSpPr>
          <p:cNvPr id="327" name="Google Shape;327;p9"/>
          <p:cNvSpPr/>
          <p:nvPr/>
        </p:nvSpPr>
        <p:spPr>
          <a:xfrm>
            <a:off x="5481403" y="3753320"/>
            <a:ext cx="1229193" cy="374754"/>
          </a:xfrm>
          <a:prstGeom prst="roundRect">
            <a:avLst>
              <a:gd name="adj" fmla="val 16667"/>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pt-BR" sz="1800">
                <a:solidFill>
                  <a:schemeClr val="lt1"/>
                </a:solidFill>
                <a:latin typeface="Calibri"/>
                <a:ea typeface="Calibri"/>
                <a:cs typeface="Calibri"/>
                <a:sym typeface="Calibri"/>
              </a:rPr>
              <a:t>SAIR</a:t>
            </a:r>
            <a:endParaRPr/>
          </a:p>
        </p:txBody>
      </p:sp>
      <p:pic>
        <p:nvPicPr>
          <p:cNvPr id="328" name="Google Shape;328;p9" descr="Uma imagem contendo objeto, relógio, laranja, trem&#10;&#10;Descrição gerada automaticamente"/>
          <p:cNvPicPr preferRelativeResize="0"/>
          <p:nvPr/>
        </p:nvPicPr>
        <p:blipFill rotWithShape="1">
          <a:blip r:embed="rId4">
            <a:alphaModFix/>
          </a:blip>
          <a:srcRect/>
          <a:stretch/>
        </p:blipFill>
        <p:spPr>
          <a:xfrm>
            <a:off x="394193" y="204720"/>
            <a:ext cx="1864519" cy="63311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pic>
        <p:nvPicPr>
          <p:cNvPr id="5" name="Imagem 4">
            <a:extLst>
              <a:ext uri="{FF2B5EF4-FFF2-40B4-BE49-F238E27FC236}">
                <a16:creationId xmlns:a16="http://schemas.microsoft.com/office/drawing/2014/main" id="{133663BB-6339-A36A-7BCC-6B16F1394D45}"/>
              </a:ext>
            </a:extLst>
          </p:cNvPr>
          <p:cNvPicPr>
            <a:picLocks noChangeAspect="1"/>
          </p:cNvPicPr>
          <p:nvPr/>
        </p:nvPicPr>
        <p:blipFill>
          <a:blip r:embed="rId3"/>
          <a:stretch>
            <a:fillRect/>
          </a:stretch>
        </p:blipFill>
        <p:spPr>
          <a:xfrm>
            <a:off x="3256" y="0"/>
            <a:ext cx="12192000" cy="6858000"/>
          </a:xfrm>
          <a:prstGeom prst="rect">
            <a:avLst/>
          </a:prstGeom>
        </p:spPr>
      </p:pic>
      <p:sp>
        <p:nvSpPr>
          <p:cNvPr id="401" name="Google Shape;401;p12"/>
          <p:cNvSpPr/>
          <p:nvPr/>
        </p:nvSpPr>
        <p:spPr>
          <a:xfrm>
            <a:off x="3256" y="0"/>
            <a:ext cx="12192000" cy="6858000"/>
          </a:xfrm>
          <a:prstGeom prst="rect">
            <a:avLst/>
          </a:prstGeom>
          <a:solidFill>
            <a:schemeClr val="dk1">
              <a:alpha val="7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2" name="Google Shape;402;p12"/>
          <p:cNvSpPr/>
          <p:nvPr/>
        </p:nvSpPr>
        <p:spPr>
          <a:xfrm>
            <a:off x="6" y="-3"/>
            <a:ext cx="12192000" cy="6858000"/>
          </a:xfrm>
          <a:prstGeom prst="rect">
            <a:avLst/>
          </a:prstGeom>
          <a:gradFill>
            <a:gsLst>
              <a:gs pos="0">
                <a:srgbClr val="0C0C0C">
                  <a:alpha val="23921"/>
                </a:srgbClr>
              </a:gs>
              <a:gs pos="33000">
                <a:srgbClr val="0C0C0C">
                  <a:alpha val="23921"/>
                </a:srgbClr>
              </a:gs>
              <a:gs pos="100000">
                <a:srgbClr val="000000">
                  <a:alpha val="0"/>
                </a:srgbClr>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grpSp>
        <p:nvGrpSpPr>
          <p:cNvPr id="403" name="Google Shape;403;p12"/>
          <p:cNvGrpSpPr/>
          <p:nvPr/>
        </p:nvGrpSpPr>
        <p:grpSpPr>
          <a:xfrm>
            <a:off x="772288" y="5980106"/>
            <a:ext cx="1279757" cy="443997"/>
            <a:chOff x="2868909" y="1505802"/>
            <a:chExt cx="2489200" cy="863600"/>
          </a:xfrm>
        </p:grpSpPr>
        <p:sp>
          <p:nvSpPr>
            <p:cNvPr id="404" name="Google Shape;404;p12"/>
            <p:cNvSpPr/>
            <p:nvPr/>
          </p:nvSpPr>
          <p:spPr>
            <a:xfrm>
              <a:off x="2868909" y="1505802"/>
              <a:ext cx="2489200" cy="863600"/>
            </a:xfrm>
            <a:prstGeom prst="roundRect">
              <a:avLst>
                <a:gd name="adj" fmla="val 16667"/>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5" name="Google Shape;405;p12"/>
            <p:cNvSpPr txBox="1"/>
            <p:nvPr/>
          </p:nvSpPr>
          <p:spPr>
            <a:xfrm>
              <a:off x="3060894" y="1586905"/>
              <a:ext cx="2105228" cy="6584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600" b="1" dirty="0">
                  <a:solidFill>
                    <a:schemeClr val="lt1"/>
                  </a:solidFill>
                  <a:latin typeface="Calibri"/>
                  <a:ea typeface="Calibri"/>
                  <a:cs typeface="Calibri"/>
                  <a:sym typeface="Calibri"/>
                </a:rPr>
                <a:t>SIGN OUT</a:t>
              </a:r>
              <a:endParaRPr sz="1600" dirty="0"/>
            </a:p>
          </p:txBody>
        </p:sp>
      </p:grpSp>
      <p:sp>
        <p:nvSpPr>
          <p:cNvPr id="407" name="Google Shape;407;p12"/>
          <p:cNvSpPr/>
          <p:nvPr/>
        </p:nvSpPr>
        <p:spPr>
          <a:xfrm>
            <a:off x="763987" y="5980061"/>
            <a:ext cx="1296300" cy="444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08" name="Google Shape;408;p12" descr="Uma imagem contendo objeto, relógio, laranja, trem&#10;&#10;Descrição gerada automaticamente"/>
          <p:cNvPicPr preferRelativeResize="0"/>
          <p:nvPr/>
        </p:nvPicPr>
        <p:blipFill rotWithShape="1">
          <a:blip r:embed="rId4">
            <a:alphaModFix/>
          </a:blip>
          <a:srcRect/>
          <a:stretch/>
        </p:blipFill>
        <p:spPr>
          <a:xfrm>
            <a:off x="394193" y="204720"/>
            <a:ext cx="1864519" cy="633110"/>
          </a:xfrm>
          <a:prstGeom prst="rect">
            <a:avLst/>
          </a:prstGeom>
          <a:noFill/>
          <a:ln>
            <a:noFill/>
          </a:ln>
        </p:spPr>
      </p:pic>
      <p:sp>
        <p:nvSpPr>
          <p:cNvPr id="409" name="Google Shape;409;p12"/>
          <p:cNvSpPr txBox="1"/>
          <p:nvPr/>
        </p:nvSpPr>
        <p:spPr>
          <a:xfrm>
            <a:off x="2487371" y="301443"/>
            <a:ext cx="69865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Início     Filmes     Séries     Minha Lista </a:t>
            </a:r>
            <a:endParaRPr/>
          </a:p>
        </p:txBody>
      </p:sp>
      <p:pic>
        <p:nvPicPr>
          <p:cNvPr id="410" name="Google Shape;410;p12" descr="Ícone&#10;&#10;Descrição gerada automaticamente"/>
          <p:cNvPicPr preferRelativeResize="0"/>
          <p:nvPr/>
        </p:nvPicPr>
        <p:blipFill rotWithShape="1">
          <a:blip r:embed="rId5">
            <a:alphaModFix/>
          </a:blip>
          <a:srcRect/>
          <a:stretch/>
        </p:blipFill>
        <p:spPr>
          <a:xfrm>
            <a:off x="9880255" y="331280"/>
            <a:ext cx="459581" cy="459581"/>
          </a:xfrm>
          <a:prstGeom prst="rect">
            <a:avLst/>
          </a:prstGeom>
          <a:noFill/>
          <a:ln>
            <a:noFill/>
          </a:ln>
        </p:spPr>
      </p:pic>
      <p:sp>
        <p:nvSpPr>
          <p:cNvPr id="411" name="Google Shape;411;p12"/>
          <p:cNvSpPr txBox="1"/>
          <p:nvPr/>
        </p:nvSpPr>
        <p:spPr>
          <a:xfrm>
            <a:off x="8791566" y="331280"/>
            <a:ext cx="128592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BR" sz="1800">
                <a:solidFill>
                  <a:schemeClr val="lt1"/>
                </a:solidFill>
                <a:latin typeface="Century Gothic"/>
                <a:ea typeface="Century Gothic"/>
                <a:cs typeface="Century Gothic"/>
                <a:sym typeface="Century Gothic"/>
              </a:rPr>
              <a:t>Pesquisar </a:t>
            </a:r>
            <a:endParaRPr/>
          </a:p>
        </p:txBody>
      </p:sp>
      <p:grpSp>
        <p:nvGrpSpPr>
          <p:cNvPr id="412" name="Google Shape;412;p12"/>
          <p:cNvGrpSpPr/>
          <p:nvPr/>
        </p:nvGrpSpPr>
        <p:grpSpPr>
          <a:xfrm>
            <a:off x="10120329" y="273308"/>
            <a:ext cx="1693635" cy="369332"/>
            <a:chOff x="9828445" y="385086"/>
            <a:chExt cx="1693635" cy="369332"/>
          </a:xfrm>
        </p:grpSpPr>
        <p:sp>
          <p:nvSpPr>
            <p:cNvPr id="413" name="Google Shape;413;p12"/>
            <p:cNvSpPr txBox="1"/>
            <p:nvPr/>
          </p:nvSpPr>
          <p:spPr>
            <a:xfrm>
              <a:off x="9828445" y="385086"/>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414" name="Google Shape;414;p12"/>
            <p:cNvSpPr/>
            <p:nvPr/>
          </p:nvSpPr>
          <p:spPr>
            <a:xfrm rot="10800000" flipH="1">
              <a:off x="11351815" y="535451"/>
              <a:ext cx="170265" cy="146779"/>
            </a:xfrm>
            <a:prstGeom prst="triangle">
              <a:avLst>
                <a:gd name="adj" fmla="val 5000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415" name="Google Shape;415;p12" descr="Desenho de personagem de desenho animado&#10;&#10;Descrição gerada automaticamente com confiança média"/>
          <p:cNvPicPr preferRelativeResize="0"/>
          <p:nvPr/>
        </p:nvPicPr>
        <p:blipFill rotWithShape="1">
          <a:blip r:embed="rId6">
            <a:alphaModFix/>
          </a:blip>
          <a:srcRect/>
          <a:stretch/>
        </p:blipFill>
        <p:spPr>
          <a:xfrm>
            <a:off x="11185062" y="326916"/>
            <a:ext cx="300935" cy="305234"/>
          </a:xfrm>
          <a:prstGeom prst="roundRect">
            <a:avLst>
              <a:gd name="adj" fmla="val 16667"/>
            </a:avLst>
          </a:prstGeom>
          <a:noFill/>
          <a:ln>
            <a:noFill/>
          </a:ln>
          <a:effectLst>
            <a:outerShdw blurRad="76200" dist="38100" dir="7800000" algn="tl" rotWithShape="0">
              <a:srgbClr val="000000">
                <a:alpha val="40000"/>
              </a:srgbClr>
            </a:outerShdw>
          </a:effectLst>
        </p:spPr>
      </p:pic>
    </p:spTree>
  </p:cSld>
  <p:clrMapOvr>
    <a:masterClrMapping/>
  </p:clrMapOvr>
  <p:transition spd="slow">
    <p:push/>
  </p:transition>
</p:sld>
</file>

<file path=ppt/theme/theme1.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477</TotalTime>
  <Words>908</Words>
  <Application>Microsoft Office PowerPoint</Application>
  <PresentationFormat>Widescreen</PresentationFormat>
  <Paragraphs>86</Paragraphs>
  <Slides>11</Slides>
  <Notes>11</Notes>
  <HiddenSlides>0</HiddenSlides>
  <MMClips>1</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11</vt:i4>
      </vt:variant>
    </vt:vector>
  </HeadingPairs>
  <TitlesOfParts>
    <vt:vector size="17" baseType="lpstr">
      <vt:lpstr>Calibri</vt:lpstr>
      <vt:lpstr>Arial</vt:lpstr>
      <vt:lpstr>Lato Light</vt:lpstr>
      <vt:lpstr>Century Gothic</vt:lpstr>
      <vt:lpstr>Bebas Neue</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Ludimila Moreira</dc:creator>
  <cp:lastModifiedBy>Roberta Galvão</cp:lastModifiedBy>
  <cp:revision>5</cp:revision>
  <dcterms:created xsi:type="dcterms:W3CDTF">2021-05-12T21:25:33Z</dcterms:created>
  <dcterms:modified xsi:type="dcterms:W3CDTF">2022-09-21T06:27:20Z</dcterms:modified>
</cp:coreProperties>
</file>